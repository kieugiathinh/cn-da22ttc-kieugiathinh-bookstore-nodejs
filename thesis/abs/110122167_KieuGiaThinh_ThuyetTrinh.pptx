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4" r:id="rId1"/>
  </p:sldMasterIdLst>
  <p:notesMasterIdLst>
    <p:notesMasterId r:id="rId13"/>
  </p:notesMasterIdLst>
  <p:sldIdLst>
    <p:sldId id="256" r:id="rId2"/>
    <p:sldId id="257" r:id="rId3"/>
    <p:sldId id="258" r:id="rId4"/>
    <p:sldId id="259" r:id="rId5"/>
    <p:sldId id="260" r:id="rId6"/>
    <p:sldId id="261" r:id="rId7"/>
    <p:sldId id="265" r:id="rId8"/>
    <p:sldId id="267" r:id="rId9"/>
    <p:sldId id="262" r:id="rId10"/>
    <p:sldId id="263"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8" d="100"/>
          <a:sy n="88" d="100"/>
        </p:scale>
        <p:origin x="494"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8CDC73-AFD2-4255-B25F-C473793E7880}" type="datetimeFigureOut">
              <a:rPr lang="en-US" smtClean="0"/>
              <a:t>12/29/2025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66F0E1-1137-43BD-857D-5CAA5CC81FA0}" type="slidenum">
              <a:rPr lang="en-US" smtClean="0"/>
              <a:t>‹#›</a:t>
            </a:fld>
            <a:endParaRPr lang="en-US"/>
          </a:p>
        </p:txBody>
      </p:sp>
    </p:spTree>
    <p:extLst>
      <p:ext uri="{BB962C8B-B14F-4D97-AF65-F5344CB8AC3E}">
        <p14:creationId xmlns:p14="http://schemas.microsoft.com/office/powerpoint/2010/main" val="6076610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B66F0E1-1137-43BD-857D-5CAA5CC81FA0}" type="slidenum">
              <a:rPr lang="en-US" smtClean="0"/>
              <a:t>1</a:t>
            </a:fld>
            <a:endParaRPr lang="en-US"/>
          </a:p>
        </p:txBody>
      </p:sp>
    </p:spTree>
    <p:extLst>
      <p:ext uri="{BB962C8B-B14F-4D97-AF65-F5344CB8AC3E}">
        <p14:creationId xmlns:p14="http://schemas.microsoft.com/office/powerpoint/2010/main" val="11415992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F4165F76-FBAE-42D0-955F-91E3CF04B54F}" type="datetimeFigureOut">
              <a:rPr lang="en-US" smtClean="0"/>
              <a:t>12/29/2025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5D92D1-A5EB-4712-8800-673D29446F0B}" type="slidenum">
              <a:rPr lang="en-US" smtClean="0"/>
              <a:t>‹#›</a:t>
            </a:fld>
            <a:endParaRPr lang="en-US"/>
          </a:p>
        </p:txBody>
      </p:sp>
    </p:spTree>
    <p:extLst>
      <p:ext uri="{BB962C8B-B14F-4D97-AF65-F5344CB8AC3E}">
        <p14:creationId xmlns:p14="http://schemas.microsoft.com/office/powerpoint/2010/main" val="639935859"/>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4165F76-FBAE-42D0-955F-91E3CF04B54F}" type="datetimeFigureOut">
              <a:rPr lang="en-US" smtClean="0"/>
              <a:t>12/29/2025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5D92D1-A5EB-4712-8800-673D29446F0B}" type="slidenum">
              <a:rPr lang="en-US" smtClean="0"/>
              <a:t>‹#›</a:t>
            </a:fld>
            <a:endParaRPr lang="en-US"/>
          </a:p>
        </p:txBody>
      </p:sp>
    </p:spTree>
    <p:extLst>
      <p:ext uri="{BB962C8B-B14F-4D97-AF65-F5344CB8AC3E}">
        <p14:creationId xmlns:p14="http://schemas.microsoft.com/office/powerpoint/2010/main" val="13916529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4165F76-FBAE-42D0-955F-91E3CF04B54F}" type="datetimeFigureOut">
              <a:rPr lang="en-US" smtClean="0"/>
              <a:t>12/29/2025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5D92D1-A5EB-4712-8800-673D29446F0B}" type="slidenum">
              <a:rPr lang="en-US" smtClean="0"/>
              <a:t>‹#›</a:t>
            </a:fld>
            <a:endParaRPr lang="en-US"/>
          </a:p>
        </p:txBody>
      </p:sp>
    </p:spTree>
    <p:extLst>
      <p:ext uri="{BB962C8B-B14F-4D97-AF65-F5344CB8AC3E}">
        <p14:creationId xmlns:p14="http://schemas.microsoft.com/office/powerpoint/2010/main" val="32599425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F4165F76-FBAE-42D0-955F-91E3CF04B54F}" type="datetimeFigureOut">
              <a:rPr lang="en-US" smtClean="0"/>
              <a:t>12/29/2025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B5D92D1-A5EB-4712-8800-673D29446F0B}" type="slidenum">
              <a:rPr lang="en-US" smtClean="0"/>
              <a:t>‹#›</a:t>
            </a:fld>
            <a:endParaRPr lang="en-US"/>
          </a:p>
        </p:txBody>
      </p:sp>
    </p:spTree>
    <p:extLst>
      <p:ext uri="{BB962C8B-B14F-4D97-AF65-F5344CB8AC3E}">
        <p14:creationId xmlns:p14="http://schemas.microsoft.com/office/powerpoint/2010/main" val="1067535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F4165F76-FBAE-42D0-955F-91E3CF04B54F}" type="datetimeFigureOut">
              <a:rPr lang="en-US" smtClean="0"/>
              <a:t>12/29/2025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B5D92D1-A5EB-4712-8800-673D29446F0B}" type="slidenum">
              <a:rPr lang="en-US" smtClean="0"/>
              <a:t>‹#›</a:t>
            </a:fld>
            <a:endParaRPr lang="en-US"/>
          </a:p>
        </p:txBody>
      </p:sp>
    </p:spTree>
    <p:extLst>
      <p:ext uri="{BB962C8B-B14F-4D97-AF65-F5344CB8AC3E}">
        <p14:creationId xmlns:p14="http://schemas.microsoft.com/office/powerpoint/2010/main" val="14792819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F4165F76-FBAE-42D0-955F-91E3CF04B54F}" type="datetimeFigureOut">
              <a:rPr lang="en-US" smtClean="0"/>
              <a:t>12/29/2025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B5D92D1-A5EB-4712-8800-673D29446F0B}" type="slidenum">
              <a:rPr lang="en-US" smtClean="0"/>
              <a:t>‹#›</a:t>
            </a:fld>
            <a:endParaRPr lang="en-US"/>
          </a:p>
        </p:txBody>
      </p:sp>
    </p:spTree>
    <p:extLst>
      <p:ext uri="{BB962C8B-B14F-4D97-AF65-F5344CB8AC3E}">
        <p14:creationId xmlns:p14="http://schemas.microsoft.com/office/powerpoint/2010/main" val="19780215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4165F76-FBAE-42D0-955F-91E3CF04B54F}" type="datetimeFigureOut">
              <a:rPr lang="en-US" smtClean="0"/>
              <a:t>12/29/2025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B5D92D1-A5EB-4712-8800-673D29446F0B}" type="slidenum">
              <a:rPr lang="en-US" smtClean="0"/>
              <a:t>‹#›</a:t>
            </a:fld>
            <a:endParaRPr lang="en-US"/>
          </a:p>
        </p:txBody>
      </p:sp>
    </p:spTree>
    <p:extLst>
      <p:ext uri="{BB962C8B-B14F-4D97-AF65-F5344CB8AC3E}">
        <p14:creationId xmlns:p14="http://schemas.microsoft.com/office/powerpoint/2010/main" val="19456168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4165F76-FBAE-42D0-955F-91E3CF04B54F}" type="datetimeFigureOut">
              <a:rPr lang="en-US" smtClean="0"/>
              <a:t>12/29/2025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B5D92D1-A5EB-4712-8800-673D29446F0B}" type="slidenum">
              <a:rPr lang="en-US" smtClean="0"/>
              <a:t>‹#›</a:t>
            </a:fld>
            <a:endParaRPr lang="en-US"/>
          </a:p>
        </p:txBody>
      </p:sp>
    </p:spTree>
    <p:extLst>
      <p:ext uri="{BB962C8B-B14F-4D97-AF65-F5344CB8AC3E}">
        <p14:creationId xmlns:p14="http://schemas.microsoft.com/office/powerpoint/2010/main" val="7208922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B5D92D1-A5EB-4712-8800-673D29446F0B}" type="slidenum">
              <a:rPr lang="en-US" smtClean="0"/>
              <a:t>‹#›</a:t>
            </a:fld>
            <a:endParaRPr lang="en-US"/>
          </a:p>
        </p:txBody>
      </p:sp>
      <p:sp>
        <p:nvSpPr>
          <p:cNvPr id="5" name="Date Placeholder 4"/>
          <p:cNvSpPr>
            <a:spLocks noGrp="1"/>
          </p:cNvSpPr>
          <p:nvPr>
            <p:ph type="dt" sz="half" idx="10"/>
          </p:nvPr>
        </p:nvSpPr>
        <p:spPr/>
        <p:txBody>
          <a:bodyPr/>
          <a:lstStyle/>
          <a:p>
            <a:fld id="{F4165F76-FBAE-42D0-955F-91E3CF04B54F}" type="datetimeFigureOut">
              <a:rPr lang="en-US" smtClean="0"/>
              <a:t>12/29/2025</a:t>
            </a:fld>
            <a:endParaRPr lang="en-US"/>
          </a:p>
        </p:txBody>
      </p:sp>
    </p:spTree>
    <p:extLst>
      <p:ext uri="{BB962C8B-B14F-4D97-AF65-F5344CB8AC3E}">
        <p14:creationId xmlns:p14="http://schemas.microsoft.com/office/powerpoint/2010/main" val="24420764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4165F76-FBAE-42D0-955F-91E3CF04B54F}" type="datetimeFigureOut">
              <a:rPr lang="en-US" smtClean="0"/>
              <a:t>12/29/2025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5D92D1-A5EB-4712-8800-673D29446F0B}" type="slidenum">
              <a:rPr lang="en-US" smtClean="0"/>
              <a:t>‹#›</a:t>
            </a:fld>
            <a:endParaRPr lang="en-US"/>
          </a:p>
        </p:txBody>
      </p:sp>
    </p:spTree>
    <p:extLst>
      <p:ext uri="{BB962C8B-B14F-4D97-AF65-F5344CB8AC3E}">
        <p14:creationId xmlns:p14="http://schemas.microsoft.com/office/powerpoint/2010/main" val="31083935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4165F76-FBAE-42D0-955F-91E3CF04B54F}" type="datetimeFigureOut">
              <a:rPr lang="en-US" smtClean="0"/>
              <a:t>12/29/2025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5D92D1-A5EB-4712-8800-673D29446F0B}"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6767251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4165F76-FBAE-42D0-955F-91E3CF04B54F}" type="datetimeFigureOut">
              <a:rPr lang="en-US" smtClean="0"/>
              <a:t>12/29/2025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5D92D1-A5EB-4712-8800-673D29446F0B}" type="slidenum">
              <a:rPr lang="en-US" smtClean="0"/>
              <a:t>‹#›</a:t>
            </a:fld>
            <a:endParaRPr lang="en-US"/>
          </a:p>
        </p:txBody>
      </p:sp>
    </p:spTree>
    <p:extLst>
      <p:ext uri="{BB962C8B-B14F-4D97-AF65-F5344CB8AC3E}">
        <p14:creationId xmlns:p14="http://schemas.microsoft.com/office/powerpoint/2010/main" val="18607917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4165F76-FBAE-42D0-955F-91E3CF04B54F}" type="datetimeFigureOut">
              <a:rPr lang="en-US" smtClean="0"/>
              <a:t>12/29/2025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5D92D1-A5EB-4712-8800-673D29446F0B}"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985487648"/>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4165F76-FBAE-42D0-955F-91E3CF04B54F}" type="datetimeFigureOut">
              <a:rPr lang="en-US" smtClean="0"/>
              <a:t>12/29/2025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5D92D1-A5EB-4712-8800-673D29446F0B}" type="slidenum">
              <a:rPr lang="en-US" smtClean="0"/>
              <a:t>‹#›</a:t>
            </a:fld>
            <a:endParaRPr lang="en-US"/>
          </a:p>
        </p:txBody>
      </p:sp>
    </p:spTree>
    <p:extLst>
      <p:ext uri="{BB962C8B-B14F-4D97-AF65-F5344CB8AC3E}">
        <p14:creationId xmlns:p14="http://schemas.microsoft.com/office/powerpoint/2010/main" val="3405293100"/>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4165F76-FBAE-42D0-955F-91E3CF04B54F}" type="datetimeFigureOut">
              <a:rPr lang="en-US" smtClean="0"/>
              <a:t>12/29/2025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5D92D1-A5EB-4712-8800-673D29446F0B}" type="slidenum">
              <a:rPr lang="en-US" smtClean="0"/>
              <a:t>‹#›</a:t>
            </a:fld>
            <a:endParaRPr lang="en-US"/>
          </a:p>
        </p:txBody>
      </p:sp>
    </p:spTree>
    <p:extLst>
      <p:ext uri="{BB962C8B-B14F-4D97-AF65-F5344CB8AC3E}">
        <p14:creationId xmlns:p14="http://schemas.microsoft.com/office/powerpoint/2010/main" val="42870669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4165F76-FBAE-42D0-955F-91E3CF04B54F}" type="datetimeFigureOut">
              <a:rPr lang="en-US" smtClean="0"/>
              <a:t>12/29/2025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B5D92D1-A5EB-4712-8800-673D29446F0B}" type="slidenum">
              <a:rPr lang="en-US" smtClean="0"/>
              <a:t>‹#›</a:t>
            </a:fld>
            <a:endParaRPr lang="en-US"/>
          </a:p>
        </p:txBody>
      </p:sp>
    </p:spTree>
    <p:extLst>
      <p:ext uri="{BB962C8B-B14F-4D97-AF65-F5344CB8AC3E}">
        <p14:creationId xmlns:p14="http://schemas.microsoft.com/office/powerpoint/2010/main" val="26555988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4165F76-FBAE-42D0-955F-91E3CF04B54F}" type="datetimeFigureOut">
              <a:rPr lang="en-US" smtClean="0"/>
              <a:t>12/29/2025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1B5D92D1-A5EB-4712-8800-673D29446F0B}" type="slidenum">
              <a:rPr lang="en-US" smtClean="0"/>
              <a:t>‹#›</a:t>
            </a:fld>
            <a:endParaRPr lang="en-US"/>
          </a:p>
        </p:txBody>
      </p:sp>
    </p:spTree>
    <p:extLst>
      <p:ext uri="{BB962C8B-B14F-4D97-AF65-F5344CB8AC3E}">
        <p14:creationId xmlns:p14="http://schemas.microsoft.com/office/powerpoint/2010/main" val="2600603910"/>
      </p:ext>
    </p:extLst>
  </p:cSld>
  <p:clrMap bg1="lt1" tx1="dk1" bg2="lt2" tx2="dk2" accent1="accent1" accent2="accent2" accent3="accent3" accent4="accent4" accent5="accent5" accent6="accent6" hlink="hlink" folHlink="folHlink"/>
  <p:sldLayoutIdLst>
    <p:sldLayoutId id="2147483835" r:id="rId1"/>
    <p:sldLayoutId id="2147483836" r:id="rId2"/>
    <p:sldLayoutId id="2147483837" r:id="rId3"/>
    <p:sldLayoutId id="2147483838" r:id="rId4"/>
    <p:sldLayoutId id="2147483839" r:id="rId5"/>
    <p:sldLayoutId id="2147483840" r:id="rId6"/>
    <p:sldLayoutId id="2147483841" r:id="rId7"/>
    <p:sldLayoutId id="2147483842" r:id="rId8"/>
    <p:sldLayoutId id="2147483843" r:id="rId9"/>
    <p:sldLayoutId id="2147483844" r:id="rId10"/>
    <p:sldLayoutId id="2147483845" r:id="rId11"/>
    <p:sldLayoutId id="2147483846" r:id="rId12"/>
    <p:sldLayoutId id="2147483847" r:id="rId13"/>
    <p:sldLayoutId id="2147483848" r:id="rId14"/>
    <p:sldLayoutId id="2147483849" r:id="rId15"/>
    <p:sldLayoutId id="2147483850" r:id="rId16"/>
  </p:sldLayoutIdLst>
  <p:timing>
    <p:tnLst>
      <p:par>
        <p:cTn id="1" dur="indefinite" restart="never" nodeType="tmRoot"/>
      </p:par>
    </p:tnLst>
  </p:timing>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14519" y="1750264"/>
            <a:ext cx="8281850" cy="1370402"/>
          </a:xfrm>
        </p:spPr>
        <p:txBody>
          <a:bodyPr>
            <a:noAutofit/>
          </a:bodyPr>
          <a:lstStyle/>
          <a:p>
            <a:pPr algn="ctr"/>
            <a:r>
              <a:rPr lang="en-US" sz="4000" b="1" smtClean="0">
                <a:solidFill>
                  <a:schemeClr val="tx1"/>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XÂY DỰNG WEBSITE BÁN SÁCH</a:t>
            </a:r>
            <a:br>
              <a:rPr lang="en-US" sz="4000" b="1" smtClean="0">
                <a:solidFill>
                  <a:schemeClr val="tx1"/>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br>
            <a:r>
              <a:rPr lang="en-US" sz="4000" b="1" smtClean="0">
                <a:solidFill>
                  <a:schemeClr val="tx1"/>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BẰNG NODEJS</a:t>
            </a:r>
            <a:endParaRPr lang="en-US" sz="4000" b="1">
              <a:solidFill>
                <a:schemeClr val="tx1"/>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3" name="Subtitle 2"/>
          <p:cNvSpPr>
            <a:spLocks noGrp="1"/>
          </p:cNvSpPr>
          <p:nvPr>
            <p:ph type="subTitle" idx="1"/>
          </p:nvPr>
        </p:nvSpPr>
        <p:spPr>
          <a:xfrm>
            <a:off x="739775" y="4147847"/>
            <a:ext cx="2607733" cy="1096899"/>
          </a:xfrm>
        </p:spPr>
        <p:txBody>
          <a:bodyPr/>
          <a:lstStyle/>
          <a:p>
            <a:pPr algn="l"/>
            <a:r>
              <a:rPr lang="en-US" sz="1600" i="1" err="1" smtClean="0">
                <a:solidFill>
                  <a:schemeClr val="tx1"/>
                </a:solidFill>
                <a:latin typeface="Tahoma" panose="020B0604030504040204" pitchFamily="34" charset="0"/>
                <a:ea typeface="Tahoma" panose="020B0604030504040204" pitchFamily="34" charset="0"/>
                <a:cs typeface="Tahoma" panose="020B0604030504040204" pitchFamily="34" charset="0"/>
              </a:rPr>
              <a:t>Giáo</a:t>
            </a:r>
            <a:r>
              <a:rPr lang="en-US" sz="1600" i="1" smtClean="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1600" i="1" err="1" smtClean="0">
                <a:solidFill>
                  <a:schemeClr val="tx1"/>
                </a:solidFill>
                <a:latin typeface="Tahoma" panose="020B0604030504040204" pitchFamily="34" charset="0"/>
                <a:ea typeface="Tahoma" panose="020B0604030504040204" pitchFamily="34" charset="0"/>
                <a:cs typeface="Tahoma" panose="020B0604030504040204" pitchFamily="34" charset="0"/>
              </a:rPr>
              <a:t>viên</a:t>
            </a:r>
            <a:r>
              <a:rPr lang="en-US" sz="1600" i="1" smtClean="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1600" i="1" err="1" smtClean="0">
                <a:solidFill>
                  <a:schemeClr val="tx1"/>
                </a:solidFill>
                <a:latin typeface="Tahoma" panose="020B0604030504040204" pitchFamily="34" charset="0"/>
                <a:ea typeface="Tahoma" panose="020B0604030504040204" pitchFamily="34" charset="0"/>
                <a:cs typeface="Tahoma" panose="020B0604030504040204" pitchFamily="34" charset="0"/>
              </a:rPr>
              <a:t>hướng</a:t>
            </a:r>
            <a:r>
              <a:rPr lang="en-US" sz="1600" i="1" smtClean="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1600" i="1" err="1" smtClean="0">
                <a:solidFill>
                  <a:schemeClr val="tx1"/>
                </a:solidFill>
                <a:latin typeface="Tahoma" panose="020B0604030504040204" pitchFamily="34" charset="0"/>
                <a:ea typeface="Tahoma" panose="020B0604030504040204" pitchFamily="34" charset="0"/>
                <a:cs typeface="Tahoma" panose="020B0604030504040204" pitchFamily="34" charset="0"/>
              </a:rPr>
              <a:t>dẫn</a:t>
            </a:r>
            <a:r>
              <a:rPr lang="en-US" sz="1600" i="1" smtClean="0">
                <a:solidFill>
                  <a:schemeClr val="tx1"/>
                </a:solidFill>
                <a:latin typeface="Tahoma" panose="020B0604030504040204" pitchFamily="34" charset="0"/>
                <a:ea typeface="Tahoma" panose="020B0604030504040204" pitchFamily="34" charset="0"/>
                <a:cs typeface="Tahoma" panose="020B0604030504040204" pitchFamily="34" charset="0"/>
              </a:rPr>
              <a:t>:</a:t>
            </a:r>
          </a:p>
          <a:p>
            <a:pPr algn="l"/>
            <a:r>
              <a:rPr lang="en-US" err="1" smtClean="0">
                <a:solidFill>
                  <a:schemeClr val="tx1"/>
                </a:solidFill>
                <a:latin typeface="Tahoma" panose="020B0604030504040204" pitchFamily="34" charset="0"/>
                <a:ea typeface="Tahoma" panose="020B0604030504040204" pitchFamily="34" charset="0"/>
                <a:cs typeface="Tahoma" panose="020B0604030504040204" pitchFamily="34" charset="0"/>
              </a:rPr>
              <a:t>Th.S</a:t>
            </a:r>
            <a:r>
              <a:rPr lang="en-US" smtClean="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err="1" smtClean="0">
                <a:solidFill>
                  <a:schemeClr val="tx1"/>
                </a:solidFill>
                <a:latin typeface="Tahoma" panose="020B0604030504040204" pitchFamily="34" charset="0"/>
                <a:ea typeface="Tahoma" panose="020B0604030504040204" pitchFamily="34" charset="0"/>
                <a:cs typeface="Tahoma" panose="020B0604030504040204" pitchFamily="34" charset="0"/>
              </a:rPr>
              <a:t>Phạm</a:t>
            </a:r>
            <a:r>
              <a:rPr lang="en-US" smtClean="0">
                <a:solidFill>
                  <a:schemeClr val="tx1"/>
                </a:solidFill>
                <a:latin typeface="Tahoma" panose="020B0604030504040204" pitchFamily="34" charset="0"/>
                <a:ea typeface="Tahoma" panose="020B0604030504040204" pitchFamily="34" charset="0"/>
                <a:cs typeface="Tahoma" panose="020B0604030504040204" pitchFamily="34" charset="0"/>
              </a:rPr>
              <a:t> Minh </a:t>
            </a:r>
            <a:r>
              <a:rPr lang="en-US" err="1" smtClean="0">
                <a:solidFill>
                  <a:schemeClr val="tx1"/>
                </a:solidFill>
                <a:latin typeface="Tahoma" panose="020B0604030504040204" pitchFamily="34" charset="0"/>
                <a:ea typeface="Tahoma" panose="020B0604030504040204" pitchFamily="34" charset="0"/>
                <a:cs typeface="Tahoma" panose="020B0604030504040204" pitchFamily="34" charset="0"/>
              </a:rPr>
              <a:t>Đương</a:t>
            </a:r>
            <a:endParaRPr lang="en-US">
              <a:solidFill>
                <a:schemeClr val="tx1"/>
              </a:solidFill>
              <a:latin typeface="Tahoma" panose="020B0604030504040204" pitchFamily="34" charset="0"/>
              <a:ea typeface="Tahoma" panose="020B0604030504040204" pitchFamily="34" charset="0"/>
              <a:cs typeface="Tahoma" panose="020B0604030504040204" pitchFamily="34" charset="0"/>
            </a:endParaRPr>
          </a:p>
        </p:txBody>
      </p:sp>
      <p:pic>
        <p:nvPicPr>
          <p:cNvPr id="1026" name="Picture 2" descr="Trường Đại học Trà Vinh - tvu.edu.vn"/>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 y="1"/>
            <a:ext cx="819150" cy="81915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739775" y="140325"/>
            <a:ext cx="3162300" cy="338554"/>
          </a:xfrm>
          <a:prstGeom prst="rect">
            <a:avLst/>
          </a:prstGeom>
          <a:noFill/>
        </p:spPr>
        <p:txBody>
          <a:bodyPr wrap="square" rtlCol="0">
            <a:spAutoFit/>
          </a:bodyPr>
          <a:lstStyle/>
          <a:p>
            <a:r>
              <a:rPr lang="en-US" sz="1600" smtClean="0">
                <a:latin typeface="Tahoma" panose="020B0604030504040204" pitchFamily="34" charset="0"/>
                <a:ea typeface="Tahoma" panose="020B0604030504040204" pitchFamily="34" charset="0"/>
                <a:cs typeface="Tahoma" panose="020B0604030504040204" pitchFamily="34" charset="0"/>
              </a:rPr>
              <a:t>TRƯỜNG ĐẠI HỌC TRÀ VINH</a:t>
            </a:r>
            <a:endParaRPr lang="en-US" sz="1600">
              <a:latin typeface="Tahoma" panose="020B0604030504040204" pitchFamily="34" charset="0"/>
              <a:ea typeface="Tahoma" panose="020B0604030504040204" pitchFamily="34" charset="0"/>
              <a:cs typeface="Tahoma" panose="020B0604030504040204" pitchFamily="34" charset="0"/>
            </a:endParaRPr>
          </a:p>
        </p:txBody>
      </p:sp>
      <p:sp>
        <p:nvSpPr>
          <p:cNvPr id="6" name="Subtitle 2"/>
          <p:cNvSpPr txBox="1">
            <a:spLocks/>
          </p:cNvSpPr>
          <p:nvPr/>
        </p:nvSpPr>
        <p:spPr>
          <a:xfrm>
            <a:off x="7630933" y="4144053"/>
            <a:ext cx="2791003" cy="1692743"/>
          </a:xfrm>
          <a:prstGeom prst="rect">
            <a:avLst/>
          </a:prstGeom>
        </p:spPr>
        <p:txBody>
          <a:bodyPr vert="horz" lIns="91440" tIns="45720" rIns="91440" bIns="45720" rtlCol="0" anchor="t">
            <a:normAutofit/>
          </a:bodyPr>
          <a:lstStyle>
            <a:lvl1pPr marL="0" indent="0" algn="r" defTabSz="457200"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algn="l"/>
            <a:r>
              <a:rPr lang="en-US" sz="1600" i="1" err="1" smtClean="0">
                <a:solidFill>
                  <a:schemeClr val="tx1"/>
                </a:solidFill>
                <a:latin typeface="Tahoma" panose="020B0604030504040204" pitchFamily="34" charset="0"/>
                <a:ea typeface="Tahoma" panose="020B0604030504040204" pitchFamily="34" charset="0"/>
                <a:cs typeface="Tahoma" panose="020B0604030504040204" pitchFamily="34" charset="0"/>
              </a:rPr>
              <a:t>Sinh</a:t>
            </a:r>
            <a:r>
              <a:rPr lang="en-US" sz="1600" i="1" smtClean="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1600" i="1" err="1" smtClean="0">
                <a:solidFill>
                  <a:schemeClr val="tx1"/>
                </a:solidFill>
                <a:latin typeface="Tahoma" panose="020B0604030504040204" pitchFamily="34" charset="0"/>
                <a:ea typeface="Tahoma" panose="020B0604030504040204" pitchFamily="34" charset="0"/>
                <a:cs typeface="Tahoma" panose="020B0604030504040204" pitchFamily="34" charset="0"/>
              </a:rPr>
              <a:t>viên</a:t>
            </a:r>
            <a:r>
              <a:rPr lang="en-US" sz="1600" i="1" smtClean="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1600" i="1" err="1" smtClean="0">
                <a:solidFill>
                  <a:schemeClr val="tx1"/>
                </a:solidFill>
                <a:latin typeface="Tahoma" panose="020B0604030504040204" pitchFamily="34" charset="0"/>
                <a:ea typeface="Tahoma" panose="020B0604030504040204" pitchFamily="34" charset="0"/>
                <a:cs typeface="Tahoma" panose="020B0604030504040204" pitchFamily="34" charset="0"/>
              </a:rPr>
              <a:t>thực</a:t>
            </a:r>
            <a:r>
              <a:rPr lang="en-US" sz="1600" i="1" smtClean="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sz="1600" i="1" err="1" smtClean="0">
                <a:solidFill>
                  <a:schemeClr val="tx1"/>
                </a:solidFill>
                <a:latin typeface="Tahoma" panose="020B0604030504040204" pitchFamily="34" charset="0"/>
                <a:ea typeface="Tahoma" panose="020B0604030504040204" pitchFamily="34" charset="0"/>
                <a:cs typeface="Tahoma" panose="020B0604030504040204" pitchFamily="34" charset="0"/>
              </a:rPr>
              <a:t>hiện</a:t>
            </a:r>
            <a:r>
              <a:rPr lang="en-US" sz="1600" i="1" smtClean="0">
                <a:solidFill>
                  <a:schemeClr val="tx1"/>
                </a:solidFill>
                <a:latin typeface="Tahoma" panose="020B0604030504040204" pitchFamily="34" charset="0"/>
                <a:ea typeface="Tahoma" panose="020B0604030504040204" pitchFamily="34" charset="0"/>
                <a:cs typeface="Tahoma" panose="020B0604030504040204" pitchFamily="34" charset="0"/>
              </a:rPr>
              <a:t>:</a:t>
            </a:r>
          </a:p>
          <a:p>
            <a:pPr algn="l"/>
            <a:r>
              <a:rPr lang="en-US" err="1" smtClean="0">
                <a:solidFill>
                  <a:schemeClr val="tx1"/>
                </a:solidFill>
                <a:latin typeface="Tahoma" panose="020B0604030504040204" pitchFamily="34" charset="0"/>
                <a:ea typeface="Tahoma" panose="020B0604030504040204" pitchFamily="34" charset="0"/>
                <a:cs typeface="Tahoma" panose="020B0604030504040204" pitchFamily="34" charset="0"/>
              </a:rPr>
              <a:t>Họ</a:t>
            </a:r>
            <a:r>
              <a:rPr lang="en-US" smtClean="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err="1" smtClean="0">
                <a:solidFill>
                  <a:schemeClr val="tx1"/>
                </a:solidFill>
                <a:latin typeface="Tahoma" panose="020B0604030504040204" pitchFamily="34" charset="0"/>
                <a:ea typeface="Tahoma" panose="020B0604030504040204" pitchFamily="34" charset="0"/>
                <a:cs typeface="Tahoma" panose="020B0604030504040204" pitchFamily="34" charset="0"/>
              </a:rPr>
              <a:t>và</a:t>
            </a:r>
            <a:r>
              <a:rPr lang="en-US" smtClean="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err="1" smtClean="0">
                <a:solidFill>
                  <a:schemeClr val="tx1"/>
                </a:solidFill>
                <a:latin typeface="Tahoma" panose="020B0604030504040204" pitchFamily="34" charset="0"/>
                <a:ea typeface="Tahoma" panose="020B0604030504040204" pitchFamily="34" charset="0"/>
                <a:cs typeface="Tahoma" panose="020B0604030504040204" pitchFamily="34" charset="0"/>
              </a:rPr>
              <a:t>tên</a:t>
            </a:r>
            <a:r>
              <a:rPr lang="en-US" smtClean="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err="1" smtClean="0">
                <a:solidFill>
                  <a:schemeClr val="tx1"/>
                </a:solidFill>
                <a:latin typeface="Tahoma" panose="020B0604030504040204" pitchFamily="34" charset="0"/>
                <a:ea typeface="Tahoma" panose="020B0604030504040204" pitchFamily="34" charset="0"/>
                <a:cs typeface="Tahoma" panose="020B0604030504040204" pitchFamily="34" charset="0"/>
              </a:rPr>
              <a:t>Kiều</a:t>
            </a:r>
            <a:r>
              <a:rPr lang="en-US" smtClean="0">
                <a:solidFill>
                  <a:schemeClr val="tx1"/>
                </a:solidFill>
                <a:latin typeface="Tahoma" panose="020B0604030504040204" pitchFamily="34" charset="0"/>
                <a:ea typeface="Tahoma" panose="020B0604030504040204" pitchFamily="34" charset="0"/>
                <a:cs typeface="Tahoma" panose="020B0604030504040204" pitchFamily="34" charset="0"/>
              </a:rPr>
              <a:t> Gia Thịnh</a:t>
            </a:r>
          </a:p>
          <a:p>
            <a:pPr algn="l"/>
            <a:r>
              <a:rPr lang="en-US" smtClean="0">
                <a:solidFill>
                  <a:schemeClr val="tx1"/>
                </a:solidFill>
                <a:latin typeface="Tahoma" panose="020B0604030504040204" pitchFamily="34" charset="0"/>
                <a:ea typeface="Tahoma" panose="020B0604030504040204" pitchFamily="34" charset="0"/>
                <a:cs typeface="Tahoma" panose="020B0604030504040204" pitchFamily="34" charset="0"/>
              </a:rPr>
              <a:t>MSSV: 110122167</a:t>
            </a:r>
          </a:p>
          <a:p>
            <a:pPr algn="l"/>
            <a:r>
              <a:rPr lang="en-US" err="1" smtClean="0">
                <a:solidFill>
                  <a:schemeClr val="tx1"/>
                </a:solidFill>
                <a:latin typeface="Tahoma" panose="020B0604030504040204" pitchFamily="34" charset="0"/>
                <a:ea typeface="Tahoma" panose="020B0604030504040204" pitchFamily="34" charset="0"/>
                <a:cs typeface="Tahoma" panose="020B0604030504040204" pitchFamily="34" charset="0"/>
              </a:rPr>
              <a:t>Mã</a:t>
            </a:r>
            <a:r>
              <a:rPr lang="en-US" smtClean="0">
                <a:solidFill>
                  <a:schemeClr val="tx1"/>
                </a:solidFill>
                <a:latin typeface="Tahoma" panose="020B0604030504040204" pitchFamily="34" charset="0"/>
                <a:ea typeface="Tahoma" panose="020B0604030504040204" pitchFamily="34" charset="0"/>
                <a:cs typeface="Tahoma" panose="020B0604030504040204" pitchFamily="34" charset="0"/>
              </a:rPr>
              <a:t> </a:t>
            </a:r>
            <a:r>
              <a:rPr lang="en-US" err="1" smtClean="0">
                <a:solidFill>
                  <a:schemeClr val="tx1"/>
                </a:solidFill>
                <a:latin typeface="Tahoma" panose="020B0604030504040204" pitchFamily="34" charset="0"/>
                <a:ea typeface="Tahoma" panose="020B0604030504040204" pitchFamily="34" charset="0"/>
                <a:cs typeface="Tahoma" panose="020B0604030504040204" pitchFamily="34" charset="0"/>
              </a:rPr>
              <a:t>lớp</a:t>
            </a:r>
            <a:r>
              <a:rPr lang="en-US" smtClean="0">
                <a:solidFill>
                  <a:schemeClr val="tx1"/>
                </a:solidFill>
                <a:latin typeface="Tahoma" panose="020B0604030504040204" pitchFamily="34" charset="0"/>
                <a:ea typeface="Tahoma" panose="020B0604030504040204" pitchFamily="34" charset="0"/>
                <a:cs typeface="Tahoma" panose="020B0604030504040204" pitchFamily="34" charset="0"/>
              </a:rPr>
              <a:t>: DA22TTC</a:t>
            </a:r>
            <a:endParaRPr lang="en-US">
              <a:solidFill>
                <a:schemeClr val="tx1"/>
              </a:solidFill>
              <a:latin typeface="Tahoma" panose="020B0604030504040204" pitchFamily="34" charset="0"/>
              <a:ea typeface="Tahoma" panose="020B0604030504040204" pitchFamily="34" charset="0"/>
              <a:cs typeface="Tahoma" panose="020B0604030504040204" pitchFamily="34" charset="0"/>
            </a:endParaRPr>
          </a:p>
        </p:txBody>
      </p:sp>
      <p:sp>
        <p:nvSpPr>
          <p:cNvPr id="9" name="TextBox 8"/>
          <p:cNvSpPr txBox="1"/>
          <p:nvPr/>
        </p:nvSpPr>
        <p:spPr>
          <a:xfrm>
            <a:off x="2810246" y="1099029"/>
            <a:ext cx="5290396" cy="461665"/>
          </a:xfrm>
          <a:prstGeom prst="rect">
            <a:avLst/>
          </a:prstGeom>
          <a:noFill/>
        </p:spPr>
        <p:txBody>
          <a:bodyPr wrap="square" rtlCol="0">
            <a:spAutoFit/>
          </a:bodyPr>
          <a:lstStyle/>
          <a:p>
            <a:r>
              <a:rPr lang="en-US" sz="2400" b="1" smtClean="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BÁO CÁO ĐỒ ÁN CHUYÊN NGÀNH</a:t>
            </a:r>
            <a:endParaRPr lang="en-US" sz="2400" b="1">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10" name="TextBox 9"/>
          <p:cNvSpPr txBox="1"/>
          <p:nvPr/>
        </p:nvSpPr>
        <p:spPr>
          <a:xfrm>
            <a:off x="739775" y="449878"/>
            <a:ext cx="1860550" cy="276999"/>
          </a:xfrm>
          <a:prstGeom prst="rect">
            <a:avLst/>
          </a:prstGeom>
          <a:noFill/>
        </p:spPr>
        <p:txBody>
          <a:bodyPr wrap="square" rtlCol="0">
            <a:spAutoFit/>
          </a:bodyPr>
          <a:lstStyle/>
          <a:p>
            <a:r>
              <a:rPr lang="en-US" sz="1200" smtClean="0">
                <a:latin typeface="Tahoma" panose="020B0604030504040204" pitchFamily="34" charset="0"/>
                <a:ea typeface="Tahoma" panose="020B0604030504040204" pitchFamily="34" charset="0"/>
                <a:cs typeface="Tahoma" panose="020B0604030504040204" pitchFamily="34" charset="0"/>
              </a:rPr>
              <a:t>TRA VINH UNIVERSITY</a:t>
            </a:r>
            <a:endParaRPr lang="en-US" sz="120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6476054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Trường Đại học Trà Vinh - tvu.edu.v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 y="1"/>
            <a:ext cx="819150" cy="81915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739775" y="140325"/>
            <a:ext cx="3162300" cy="338554"/>
          </a:xfrm>
          <a:prstGeom prst="rect">
            <a:avLst/>
          </a:prstGeom>
          <a:noFill/>
        </p:spPr>
        <p:txBody>
          <a:bodyPr wrap="square" rtlCol="0">
            <a:spAutoFit/>
          </a:bodyPr>
          <a:lstStyle/>
          <a:p>
            <a:r>
              <a:rPr lang="en-US" sz="1600" smtClean="0">
                <a:latin typeface="Tahoma" panose="020B0604030504040204" pitchFamily="34" charset="0"/>
                <a:ea typeface="Tahoma" panose="020B0604030504040204" pitchFamily="34" charset="0"/>
                <a:cs typeface="Tahoma" panose="020B0604030504040204" pitchFamily="34" charset="0"/>
              </a:rPr>
              <a:t>TRƯỜNG ĐẠI HỌC TRÀ VINH</a:t>
            </a:r>
            <a:endParaRPr lang="en-US" sz="1600">
              <a:latin typeface="Tahoma" panose="020B0604030504040204" pitchFamily="34" charset="0"/>
              <a:ea typeface="Tahoma" panose="020B0604030504040204" pitchFamily="34" charset="0"/>
              <a:cs typeface="Tahoma" panose="020B0604030504040204" pitchFamily="34" charset="0"/>
            </a:endParaRPr>
          </a:p>
        </p:txBody>
      </p:sp>
      <p:sp>
        <p:nvSpPr>
          <p:cNvPr id="6" name="TextBox 5"/>
          <p:cNvSpPr txBox="1"/>
          <p:nvPr/>
        </p:nvSpPr>
        <p:spPr>
          <a:xfrm>
            <a:off x="739775" y="449878"/>
            <a:ext cx="1860550" cy="276999"/>
          </a:xfrm>
          <a:prstGeom prst="rect">
            <a:avLst/>
          </a:prstGeom>
          <a:noFill/>
        </p:spPr>
        <p:txBody>
          <a:bodyPr wrap="square" rtlCol="0">
            <a:spAutoFit/>
          </a:bodyPr>
          <a:lstStyle/>
          <a:p>
            <a:r>
              <a:rPr lang="en-US" sz="1200" smtClean="0">
                <a:latin typeface="Tahoma" panose="020B0604030504040204" pitchFamily="34" charset="0"/>
                <a:ea typeface="Tahoma" panose="020B0604030504040204" pitchFamily="34" charset="0"/>
                <a:cs typeface="Tahoma" panose="020B0604030504040204" pitchFamily="34" charset="0"/>
              </a:rPr>
              <a:t>TRA VINH UNIVERSITY</a:t>
            </a:r>
            <a:endParaRPr lang="en-US" sz="1200">
              <a:latin typeface="Tahoma" panose="020B0604030504040204" pitchFamily="34" charset="0"/>
              <a:ea typeface="Tahoma" panose="020B0604030504040204" pitchFamily="34" charset="0"/>
              <a:cs typeface="Tahoma" panose="020B0604030504040204" pitchFamily="34" charset="0"/>
            </a:endParaRPr>
          </a:p>
        </p:txBody>
      </p:sp>
      <p:sp>
        <p:nvSpPr>
          <p:cNvPr id="7" name="Title 6"/>
          <p:cNvSpPr>
            <a:spLocks noGrp="1"/>
          </p:cNvSpPr>
          <p:nvPr>
            <p:ph type="title"/>
          </p:nvPr>
        </p:nvSpPr>
        <p:spPr>
          <a:xfrm>
            <a:off x="819151" y="1484663"/>
            <a:ext cx="4048124" cy="762519"/>
          </a:xfrm>
        </p:spPr>
        <p:txBody>
          <a:bodyPr>
            <a:normAutofit/>
          </a:bodyPr>
          <a:lstStyle/>
          <a:p>
            <a:r>
              <a:rPr lang="en-US" smtClean="0">
                <a:solidFill>
                  <a:schemeClr val="tx1"/>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NỘI DUNG ĐỒ ÁN</a:t>
            </a:r>
            <a:endParaRPr lang="en-US">
              <a:solidFill>
                <a:schemeClr val="tx1"/>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8" name="Content Placeholder 7"/>
          <p:cNvSpPr>
            <a:spLocks noGrp="1"/>
          </p:cNvSpPr>
          <p:nvPr>
            <p:ph idx="1"/>
          </p:nvPr>
        </p:nvSpPr>
        <p:spPr>
          <a:xfrm>
            <a:off x="819151" y="2339456"/>
            <a:ext cx="8477249" cy="3508894"/>
          </a:xfrm>
        </p:spPr>
        <p:txBody>
          <a:bodyPr>
            <a:normAutofit fontScale="92500" lnSpcReduction="10000"/>
          </a:bodyPr>
          <a:lstStyle/>
          <a:p>
            <a:pPr marL="514350" indent="-514350">
              <a:buClrTx/>
              <a:buFont typeface="+mj-lt"/>
              <a:buAutoNum type="arabicPeriod"/>
            </a:pPr>
            <a:r>
              <a:rPr lang="en-US" sz="2800" smtClean="0">
                <a:solidFill>
                  <a:schemeClr val="tx1"/>
                </a:solidFill>
                <a:latin typeface="Tahoma" panose="020B0604030504040204" pitchFamily="34" charset="0"/>
                <a:ea typeface="Tahoma" panose="020B0604030504040204" pitchFamily="34" charset="0"/>
                <a:cs typeface="Tahoma" panose="020B0604030504040204" pitchFamily="34" charset="0"/>
              </a:rPr>
              <a:t>Lý </a:t>
            </a:r>
            <a:r>
              <a:rPr lang="en-US" sz="2800">
                <a:solidFill>
                  <a:schemeClr val="tx1"/>
                </a:solidFill>
                <a:latin typeface="Tahoma" panose="020B0604030504040204" pitchFamily="34" charset="0"/>
                <a:ea typeface="Tahoma" panose="020B0604030504040204" pitchFamily="34" charset="0"/>
                <a:cs typeface="Tahoma" panose="020B0604030504040204" pitchFamily="34" charset="0"/>
              </a:rPr>
              <a:t>do chọn đề tài, mục tiêu </a:t>
            </a:r>
            <a:r>
              <a:rPr lang="en-US" sz="2800" smtClean="0">
                <a:solidFill>
                  <a:schemeClr val="tx1"/>
                </a:solidFill>
                <a:latin typeface="Tahoma" panose="020B0604030504040204" pitchFamily="34" charset="0"/>
                <a:ea typeface="Tahoma" panose="020B0604030504040204" pitchFamily="34" charset="0"/>
                <a:cs typeface="Tahoma" panose="020B0604030504040204" pitchFamily="34" charset="0"/>
              </a:rPr>
              <a:t>nghiên cứu</a:t>
            </a:r>
            <a:endParaRPr lang="en-US" sz="2800">
              <a:solidFill>
                <a:schemeClr val="tx1"/>
              </a:solidFill>
              <a:latin typeface="Tahoma" panose="020B0604030504040204" pitchFamily="34" charset="0"/>
              <a:ea typeface="Tahoma" panose="020B0604030504040204" pitchFamily="34" charset="0"/>
              <a:cs typeface="Tahoma" panose="020B0604030504040204" pitchFamily="34" charset="0"/>
            </a:endParaRPr>
          </a:p>
          <a:p>
            <a:pPr marL="514350" indent="-514350">
              <a:buClrTx/>
              <a:buFont typeface="+mj-lt"/>
              <a:buAutoNum type="arabicPeriod"/>
            </a:pPr>
            <a:r>
              <a:rPr lang="en-US" sz="2800" smtClean="0">
                <a:solidFill>
                  <a:schemeClr val="tx1"/>
                </a:solidFill>
                <a:latin typeface="Tahoma" panose="020B0604030504040204" pitchFamily="34" charset="0"/>
                <a:ea typeface="Tahoma" panose="020B0604030504040204" pitchFamily="34" charset="0"/>
                <a:cs typeface="Tahoma" panose="020B0604030504040204" pitchFamily="34" charset="0"/>
              </a:rPr>
              <a:t>Cơ </a:t>
            </a:r>
            <a:r>
              <a:rPr lang="en-US" sz="2800">
                <a:solidFill>
                  <a:schemeClr val="tx1"/>
                </a:solidFill>
                <a:latin typeface="Tahoma" panose="020B0604030504040204" pitchFamily="34" charset="0"/>
                <a:ea typeface="Tahoma" panose="020B0604030504040204" pitchFamily="34" charset="0"/>
                <a:cs typeface="Tahoma" panose="020B0604030504040204" pitchFamily="34" charset="0"/>
              </a:rPr>
              <a:t>sở lý thuyết</a:t>
            </a:r>
          </a:p>
          <a:p>
            <a:pPr marL="514350" indent="-514350">
              <a:buClrTx/>
              <a:buFont typeface="+mj-lt"/>
              <a:buAutoNum type="arabicPeriod"/>
            </a:pPr>
            <a:r>
              <a:rPr lang="en-US" sz="2800" smtClean="0">
                <a:solidFill>
                  <a:schemeClr val="tx1"/>
                </a:solidFill>
                <a:latin typeface="Tahoma" panose="020B0604030504040204" pitchFamily="34" charset="0"/>
                <a:ea typeface="Tahoma" panose="020B0604030504040204" pitchFamily="34" charset="0"/>
                <a:cs typeface="Tahoma" panose="020B0604030504040204" pitchFamily="34" charset="0"/>
              </a:rPr>
              <a:t>Mô </a:t>
            </a:r>
            <a:r>
              <a:rPr lang="en-US" sz="2800">
                <a:solidFill>
                  <a:schemeClr val="tx1"/>
                </a:solidFill>
                <a:latin typeface="Tahoma" panose="020B0604030504040204" pitchFamily="34" charset="0"/>
                <a:ea typeface="Tahoma" panose="020B0604030504040204" pitchFamily="34" charset="0"/>
                <a:cs typeface="Tahoma" panose="020B0604030504040204" pitchFamily="34" charset="0"/>
              </a:rPr>
              <a:t>tả đề </a:t>
            </a:r>
            <a:r>
              <a:rPr lang="en-US" sz="2800" smtClean="0">
                <a:solidFill>
                  <a:schemeClr val="tx1"/>
                </a:solidFill>
                <a:latin typeface="Tahoma" panose="020B0604030504040204" pitchFamily="34" charset="0"/>
                <a:ea typeface="Tahoma" panose="020B0604030504040204" pitchFamily="34" charset="0"/>
                <a:cs typeface="Tahoma" panose="020B0604030504040204" pitchFamily="34" charset="0"/>
              </a:rPr>
              <a:t>tài</a:t>
            </a:r>
          </a:p>
          <a:p>
            <a:pPr marL="514350" indent="-514350">
              <a:buClrTx/>
              <a:buFont typeface="+mj-lt"/>
              <a:buAutoNum type="arabicPeriod"/>
            </a:pPr>
            <a:r>
              <a:rPr lang="en-US" sz="2800" smtClean="0">
                <a:solidFill>
                  <a:schemeClr val="tx1"/>
                </a:solidFill>
                <a:latin typeface="Tahoma" panose="020B0604030504040204" pitchFamily="34" charset="0"/>
                <a:ea typeface="Tahoma" panose="020B0604030504040204" pitchFamily="34" charset="0"/>
                <a:cs typeface="Tahoma" panose="020B0604030504040204" pitchFamily="34" charset="0"/>
              </a:rPr>
              <a:t>Mô </a:t>
            </a:r>
            <a:r>
              <a:rPr lang="en-US" sz="2800" smtClean="0">
                <a:solidFill>
                  <a:schemeClr val="tx1"/>
                </a:solidFill>
                <a:latin typeface="Tahoma" panose="020B0604030504040204" pitchFamily="34" charset="0"/>
                <a:ea typeface="Tahoma" panose="020B0604030504040204" pitchFamily="34" charset="0"/>
                <a:cs typeface="Tahoma" panose="020B0604030504040204" pitchFamily="34" charset="0"/>
              </a:rPr>
              <a:t>hình dữ </a:t>
            </a:r>
            <a:r>
              <a:rPr lang="en-US" sz="2800" smtClean="0">
                <a:solidFill>
                  <a:schemeClr val="tx1"/>
                </a:solidFill>
                <a:latin typeface="Tahoma" panose="020B0604030504040204" pitchFamily="34" charset="0"/>
                <a:ea typeface="Tahoma" panose="020B0604030504040204" pitchFamily="34" charset="0"/>
                <a:cs typeface="Tahoma" panose="020B0604030504040204" pitchFamily="34" charset="0"/>
              </a:rPr>
              <a:t>liệu</a:t>
            </a:r>
          </a:p>
          <a:p>
            <a:pPr marL="514350" indent="-514350">
              <a:buClrTx/>
              <a:buFont typeface="+mj-lt"/>
              <a:buAutoNum type="arabicPeriod"/>
            </a:pPr>
            <a:r>
              <a:rPr lang="en-US" sz="2800" smtClean="0">
                <a:solidFill>
                  <a:schemeClr val="tx1"/>
                </a:solidFill>
                <a:latin typeface="Tahoma" panose="020B0604030504040204" pitchFamily="34" charset="0"/>
                <a:ea typeface="Tahoma" panose="020B0604030504040204" pitchFamily="34" charset="0"/>
                <a:cs typeface="Tahoma" panose="020B0604030504040204" pitchFamily="34" charset="0"/>
              </a:rPr>
              <a:t>Mô hình xử lý</a:t>
            </a:r>
            <a:endParaRPr lang="en-US" sz="2800" smtClean="0">
              <a:solidFill>
                <a:schemeClr val="tx1"/>
              </a:solidFill>
              <a:latin typeface="Tahoma" panose="020B0604030504040204" pitchFamily="34" charset="0"/>
              <a:ea typeface="Tahoma" panose="020B0604030504040204" pitchFamily="34" charset="0"/>
              <a:cs typeface="Tahoma" panose="020B0604030504040204" pitchFamily="34" charset="0"/>
            </a:endParaRPr>
          </a:p>
          <a:p>
            <a:pPr marL="514350" indent="-514350">
              <a:buClrTx/>
              <a:buFont typeface="+mj-lt"/>
              <a:buAutoNum type="arabicPeriod"/>
            </a:pPr>
            <a:r>
              <a:rPr lang="en-US" sz="2800" smtClean="0">
                <a:solidFill>
                  <a:schemeClr val="tx1"/>
                </a:solidFill>
                <a:latin typeface="Tahoma" panose="020B0604030504040204" pitchFamily="34" charset="0"/>
                <a:ea typeface="Tahoma" panose="020B0604030504040204" pitchFamily="34" charset="0"/>
                <a:cs typeface="Tahoma" panose="020B0604030504040204" pitchFamily="34" charset="0"/>
              </a:rPr>
              <a:t>Kết quả đạt được </a:t>
            </a:r>
            <a:r>
              <a:rPr lang="en-US" sz="2800" smtClean="0">
                <a:solidFill>
                  <a:schemeClr val="tx1"/>
                </a:solidFill>
                <a:latin typeface="Tahoma" panose="020B0604030504040204" pitchFamily="34" charset="0"/>
                <a:ea typeface="Tahoma" panose="020B0604030504040204" pitchFamily="34" charset="0"/>
                <a:cs typeface="Tahoma" panose="020B0604030504040204" pitchFamily="34" charset="0"/>
              </a:rPr>
              <a:t> </a:t>
            </a:r>
          </a:p>
          <a:p>
            <a:pPr marL="514350" indent="-514350">
              <a:buClrTx/>
              <a:buFont typeface="+mj-lt"/>
              <a:buAutoNum type="arabicPeriod"/>
            </a:pPr>
            <a:r>
              <a:rPr lang="en-US" sz="2800" smtClean="0">
                <a:solidFill>
                  <a:schemeClr val="tx1"/>
                </a:solidFill>
                <a:latin typeface="Tahoma" panose="020B0604030504040204" pitchFamily="34" charset="0"/>
                <a:ea typeface="Tahoma" panose="020B0604030504040204" pitchFamily="34" charset="0"/>
                <a:cs typeface="Tahoma" panose="020B0604030504040204" pitchFamily="34" charset="0"/>
              </a:rPr>
              <a:t>Hướng </a:t>
            </a:r>
            <a:r>
              <a:rPr lang="en-US" sz="2800" smtClean="0">
                <a:solidFill>
                  <a:schemeClr val="tx1"/>
                </a:solidFill>
                <a:latin typeface="Tahoma" panose="020B0604030504040204" pitchFamily="34" charset="0"/>
                <a:ea typeface="Tahoma" panose="020B0604030504040204" pitchFamily="34" charset="0"/>
                <a:cs typeface="Tahoma" panose="020B0604030504040204" pitchFamily="34" charset="0"/>
              </a:rPr>
              <a:t>phát triển</a:t>
            </a:r>
          </a:p>
        </p:txBody>
      </p:sp>
    </p:spTree>
    <p:extLst>
      <p:ext uri="{BB962C8B-B14F-4D97-AF65-F5344CB8AC3E}">
        <p14:creationId xmlns:p14="http://schemas.microsoft.com/office/powerpoint/2010/main" val="2721607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xEl>
                                              <p:pRg st="0" end="0"/>
                                            </p:txEl>
                                          </p:spTgt>
                                        </p:tgtEl>
                                        <p:attrNameLst>
                                          <p:attrName>style.visibility</p:attrName>
                                        </p:attrNameLst>
                                      </p:cBhvr>
                                      <p:to>
                                        <p:strVal val="visible"/>
                                      </p:to>
                                    </p:set>
                                    <p:animEffect transition="in" filter="fade">
                                      <p:cBhvr>
                                        <p:cTn id="14" dur="1000"/>
                                        <p:tgtEl>
                                          <p:spTgt spid="8">
                                            <p:txEl>
                                              <p:pRg st="0" end="0"/>
                                            </p:txEl>
                                          </p:spTgt>
                                        </p:tgtEl>
                                      </p:cBhvr>
                                    </p:animEffect>
                                    <p:anim calcmode="lin" valueType="num">
                                      <p:cBhvr>
                                        <p:cTn id="15"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xEl>
                                              <p:pRg st="1" end="1"/>
                                            </p:txEl>
                                          </p:spTgt>
                                        </p:tgtEl>
                                        <p:attrNameLst>
                                          <p:attrName>style.visibility</p:attrName>
                                        </p:attrNameLst>
                                      </p:cBhvr>
                                      <p:to>
                                        <p:strVal val="visible"/>
                                      </p:to>
                                    </p:set>
                                    <p:animEffect transition="in" filter="fade">
                                      <p:cBhvr>
                                        <p:cTn id="21" dur="1000"/>
                                        <p:tgtEl>
                                          <p:spTgt spid="8">
                                            <p:txEl>
                                              <p:pRg st="1" end="1"/>
                                            </p:txEl>
                                          </p:spTgt>
                                        </p:tgtEl>
                                      </p:cBhvr>
                                    </p:animEffect>
                                    <p:anim calcmode="lin" valueType="num">
                                      <p:cBhvr>
                                        <p:cTn id="22"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8">
                                            <p:txEl>
                                              <p:pRg st="2" end="2"/>
                                            </p:txEl>
                                          </p:spTgt>
                                        </p:tgtEl>
                                        <p:attrNameLst>
                                          <p:attrName>style.visibility</p:attrName>
                                        </p:attrNameLst>
                                      </p:cBhvr>
                                      <p:to>
                                        <p:strVal val="visible"/>
                                      </p:to>
                                    </p:set>
                                    <p:animEffect transition="in" filter="fade">
                                      <p:cBhvr>
                                        <p:cTn id="28" dur="1000"/>
                                        <p:tgtEl>
                                          <p:spTgt spid="8">
                                            <p:txEl>
                                              <p:pRg st="2" end="2"/>
                                            </p:txEl>
                                          </p:spTgt>
                                        </p:tgtEl>
                                      </p:cBhvr>
                                    </p:animEffect>
                                    <p:anim calcmode="lin" valueType="num">
                                      <p:cBhvr>
                                        <p:cTn id="29"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8">
                                            <p:txEl>
                                              <p:pRg st="3" end="3"/>
                                            </p:txEl>
                                          </p:spTgt>
                                        </p:tgtEl>
                                        <p:attrNameLst>
                                          <p:attrName>style.visibility</p:attrName>
                                        </p:attrNameLst>
                                      </p:cBhvr>
                                      <p:to>
                                        <p:strVal val="visible"/>
                                      </p:to>
                                    </p:set>
                                    <p:animEffect transition="in" filter="fade">
                                      <p:cBhvr>
                                        <p:cTn id="35" dur="1000"/>
                                        <p:tgtEl>
                                          <p:spTgt spid="8">
                                            <p:txEl>
                                              <p:pRg st="3" end="3"/>
                                            </p:txEl>
                                          </p:spTgt>
                                        </p:tgtEl>
                                      </p:cBhvr>
                                    </p:animEffect>
                                    <p:anim calcmode="lin" valueType="num">
                                      <p:cBhvr>
                                        <p:cTn id="36"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8">
                                            <p:txEl>
                                              <p:pRg st="4" end="4"/>
                                            </p:txEl>
                                          </p:spTgt>
                                        </p:tgtEl>
                                        <p:attrNameLst>
                                          <p:attrName>style.visibility</p:attrName>
                                        </p:attrNameLst>
                                      </p:cBhvr>
                                      <p:to>
                                        <p:strVal val="visible"/>
                                      </p:to>
                                    </p:set>
                                    <p:animEffect transition="in" filter="fade">
                                      <p:cBhvr>
                                        <p:cTn id="42" dur="1000"/>
                                        <p:tgtEl>
                                          <p:spTgt spid="8">
                                            <p:txEl>
                                              <p:pRg st="4" end="4"/>
                                            </p:txEl>
                                          </p:spTgt>
                                        </p:tgtEl>
                                      </p:cBhvr>
                                    </p:animEffect>
                                    <p:anim calcmode="lin" valueType="num">
                                      <p:cBhvr>
                                        <p:cTn id="43"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8">
                                            <p:txEl>
                                              <p:pRg st="5" end="5"/>
                                            </p:txEl>
                                          </p:spTgt>
                                        </p:tgtEl>
                                        <p:attrNameLst>
                                          <p:attrName>style.visibility</p:attrName>
                                        </p:attrNameLst>
                                      </p:cBhvr>
                                      <p:to>
                                        <p:strVal val="visible"/>
                                      </p:to>
                                    </p:set>
                                    <p:animEffect transition="in" filter="fade">
                                      <p:cBhvr>
                                        <p:cTn id="49" dur="1000"/>
                                        <p:tgtEl>
                                          <p:spTgt spid="8">
                                            <p:txEl>
                                              <p:pRg st="5" end="5"/>
                                            </p:txEl>
                                          </p:spTgt>
                                        </p:tgtEl>
                                      </p:cBhvr>
                                    </p:animEffect>
                                    <p:anim calcmode="lin" valueType="num">
                                      <p:cBhvr>
                                        <p:cTn id="50"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8">
                                            <p:txEl>
                                              <p:pRg st="6" end="6"/>
                                            </p:txEl>
                                          </p:spTgt>
                                        </p:tgtEl>
                                        <p:attrNameLst>
                                          <p:attrName>style.visibility</p:attrName>
                                        </p:attrNameLst>
                                      </p:cBhvr>
                                      <p:to>
                                        <p:strVal val="visible"/>
                                      </p:to>
                                    </p:set>
                                    <p:animEffect transition="in" filter="fade">
                                      <p:cBhvr>
                                        <p:cTn id="56" dur="1000"/>
                                        <p:tgtEl>
                                          <p:spTgt spid="8">
                                            <p:txEl>
                                              <p:pRg st="6" end="6"/>
                                            </p:txEl>
                                          </p:spTgt>
                                        </p:tgtEl>
                                      </p:cBhvr>
                                    </p:animEffect>
                                    <p:anim calcmode="lin" valueType="num">
                                      <p:cBhvr>
                                        <p:cTn id="57"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8">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9763" y="905292"/>
            <a:ext cx="5850684" cy="442921"/>
          </a:xfrm>
        </p:spPr>
        <p:txBody>
          <a:bodyPr>
            <a:normAutofit/>
          </a:bodyPr>
          <a:lstStyle/>
          <a:p>
            <a:r>
              <a:rPr lang="en-US" sz="2000" smtClean="0">
                <a:solidFill>
                  <a:schemeClr val="tx1"/>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1.	LÍ DO CHỌN ĐỀ TÀI, MỤC TIÊU NGHIÊN CỨU</a:t>
            </a:r>
            <a:endParaRPr lang="en-US" sz="2000">
              <a:solidFill>
                <a:schemeClr val="tx1"/>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3" name="Content Placeholder 2"/>
          <p:cNvSpPr>
            <a:spLocks noGrp="1"/>
          </p:cNvSpPr>
          <p:nvPr>
            <p:ph idx="1"/>
          </p:nvPr>
        </p:nvSpPr>
        <p:spPr>
          <a:xfrm>
            <a:off x="639762" y="1440487"/>
            <a:ext cx="8991917" cy="2208404"/>
          </a:xfrm>
        </p:spPr>
        <p:txBody>
          <a:bodyPr>
            <a:normAutofit/>
          </a:bodyPr>
          <a:lstStyle/>
          <a:p>
            <a:pPr marL="0" indent="0" algn="just">
              <a:buNone/>
            </a:pPr>
            <a:r>
              <a:rPr lang="vi-VN"/>
              <a:t>Lý do: Khắc phục hạn chế về không gian và thời gian của nhà sách truyền thống.</a:t>
            </a:r>
          </a:p>
          <a:p>
            <a:pPr marL="0" indent="0" algn="just">
              <a:buNone/>
            </a:pPr>
            <a:r>
              <a:rPr lang="vi-VN"/>
              <a:t>Thực trạng: Nhu cầu mua sắm trực tuyến tăng cao nhưng các web cũ thường chậm và thiếu tương tác.</a:t>
            </a:r>
          </a:p>
          <a:p>
            <a:pPr marL="0" indent="0" algn="just">
              <a:buNone/>
            </a:pPr>
            <a:r>
              <a:rPr lang="vi-VN"/>
              <a:t>Mục tiêu: Xây dựng hệ thống thương mại điện tử hoàn chỉnh, giao diện hiện đại, tốc độ phản hồi nhanh.</a:t>
            </a:r>
          </a:p>
          <a:p>
            <a:pPr marL="0" indent="0">
              <a:buNone/>
            </a:pPr>
            <a:endParaRPr lang="en-US">
              <a:solidFill>
                <a:schemeClr val="tx1"/>
              </a:solidFill>
              <a:latin typeface="Tahoma" panose="020B0604030504040204" pitchFamily="34" charset="0"/>
              <a:ea typeface="Tahoma" panose="020B0604030504040204" pitchFamily="34" charset="0"/>
              <a:cs typeface="Tahoma" panose="020B0604030504040204" pitchFamily="34" charset="0"/>
            </a:endParaRPr>
          </a:p>
        </p:txBody>
      </p:sp>
      <p:pic>
        <p:nvPicPr>
          <p:cNvPr id="4" name="Picture 2" descr="Trường Đại học Trà Vinh - tvu.edu.v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 y="1"/>
            <a:ext cx="819150" cy="81915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739775" y="140325"/>
            <a:ext cx="3162300" cy="338554"/>
          </a:xfrm>
          <a:prstGeom prst="rect">
            <a:avLst/>
          </a:prstGeom>
          <a:noFill/>
        </p:spPr>
        <p:txBody>
          <a:bodyPr wrap="square" rtlCol="0">
            <a:spAutoFit/>
          </a:bodyPr>
          <a:lstStyle/>
          <a:p>
            <a:r>
              <a:rPr lang="en-US" sz="1600" smtClean="0">
                <a:latin typeface="Tahoma" panose="020B0604030504040204" pitchFamily="34" charset="0"/>
                <a:ea typeface="Tahoma" panose="020B0604030504040204" pitchFamily="34" charset="0"/>
                <a:cs typeface="Tahoma" panose="020B0604030504040204" pitchFamily="34" charset="0"/>
              </a:rPr>
              <a:t>TRƯỜNG ĐẠI HỌC TRÀ VINH</a:t>
            </a:r>
            <a:endParaRPr lang="en-US" sz="1600">
              <a:latin typeface="Tahoma" panose="020B0604030504040204" pitchFamily="34" charset="0"/>
              <a:ea typeface="Tahoma" panose="020B0604030504040204" pitchFamily="34" charset="0"/>
              <a:cs typeface="Tahoma" panose="020B0604030504040204" pitchFamily="34" charset="0"/>
            </a:endParaRPr>
          </a:p>
        </p:txBody>
      </p:sp>
      <p:sp>
        <p:nvSpPr>
          <p:cNvPr id="6" name="TextBox 5"/>
          <p:cNvSpPr txBox="1"/>
          <p:nvPr/>
        </p:nvSpPr>
        <p:spPr>
          <a:xfrm>
            <a:off x="739775" y="449878"/>
            <a:ext cx="1860550" cy="276999"/>
          </a:xfrm>
          <a:prstGeom prst="rect">
            <a:avLst/>
          </a:prstGeom>
          <a:noFill/>
        </p:spPr>
        <p:txBody>
          <a:bodyPr wrap="square" rtlCol="0">
            <a:spAutoFit/>
          </a:bodyPr>
          <a:lstStyle/>
          <a:p>
            <a:r>
              <a:rPr lang="en-US" sz="1200" smtClean="0">
                <a:latin typeface="Tahoma" panose="020B0604030504040204" pitchFamily="34" charset="0"/>
                <a:ea typeface="Tahoma" panose="020B0604030504040204" pitchFamily="34" charset="0"/>
                <a:cs typeface="Tahoma" panose="020B0604030504040204" pitchFamily="34" charset="0"/>
              </a:rPr>
              <a:t>TRA VINH UNIVERSITY</a:t>
            </a:r>
            <a:endParaRPr lang="en-US" sz="120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442344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a:spLocks noGrp="1"/>
          </p:cNvSpPr>
          <p:nvPr>
            <p:ph type="title"/>
          </p:nvPr>
        </p:nvSpPr>
        <p:spPr>
          <a:xfrm>
            <a:off x="639764" y="905293"/>
            <a:ext cx="3120570" cy="442922"/>
          </a:xfrm>
        </p:spPr>
        <p:txBody>
          <a:bodyPr>
            <a:normAutofit/>
          </a:bodyPr>
          <a:lstStyle/>
          <a:p>
            <a:r>
              <a:rPr lang="en-US" sz="2200" smtClean="0">
                <a:solidFill>
                  <a:schemeClr val="tx1"/>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2.  CƠ SỞ LÝ THUYẾT</a:t>
            </a:r>
            <a:endParaRPr lang="en-US" sz="2200">
              <a:solidFill>
                <a:schemeClr val="tx1"/>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endParaRPr>
          </a:p>
        </p:txBody>
      </p:sp>
      <p:pic>
        <p:nvPicPr>
          <p:cNvPr id="11" name="Picture 2" descr="Trường Đại học Trà Vinh - tvu.edu.v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819150" cy="81915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739775" y="140325"/>
            <a:ext cx="3162300" cy="338554"/>
          </a:xfrm>
          <a:prstGeom prst="rect">
            <a:avLst/>
          </a:prstGeom>
          <a:noFill/>
        </p:spPr>
        <p:txBody>
          <a:bodyPr wrap="square" rtlCol="0">
            <a:spAutoFit/>
          </a:bodyPr>
          <a:lstStyle/>
          <a:p>
            <a:r>
              <a:rPr lang="en-US" sz="1600" smtClean="0">
                <a:latin typeface="Tahoma" panose="020B0604030504040204" pitchFamily="34" charset="0"/>
                <a:ea typeface="Tahoma" panose="020B0604030504040204" pitchFamily="34" charset="0"/>
                <a:cs typeface="Tahoma" panose="020B0604030504040204" pitchFamily="34" charset="0"/>
              </a:rPr>
              <a:t>TRƯỜNG ĐẠI HỌC TRÀ VINH</a:t>
            </a:r>
            <a:endParaRPr lang="en-US" sz="1600">
              <a:latin typeface="Tahoma" panose="020B0604030504040204" pitchFamily="34" charset="0"/>
              <a:ea typeface="Tahoma" panose="020B0604030504040204" pitchFamily="34" charset="0"/>
              <a:cs typeface="Tahoma" panose="020B0604030504040204" pitchFamily="34" charset="0"/>
            </a:endParaRPr>
          </a:p>
        </p:txBody>
      </p:sp>
      <p:sp>
        <p:nvSpPr>
          <p:cNvPr id="13" name="TextBox 12"/>
          <p:cNvSpPr txBox="1"/>
          <p:nvPr/>
        </p:nvSpPr>
        <p:spPr>
          <a:xfrm>
            <a:off x="739775" y="449878"/>
            <a:ext cx="1860550" cy="276999"/>
          </a:xfrm>
          <a:prstGeom prst="rect">
            <a:avLst/>
          </a:prstGeom>
          <a:noFill/>
        </p:spPr>
        <p:txBody>
          <a:bodyPr wrap="square" rtlCol="0">
            <a:spAutoFit/>
          </a:bodyPr>
          <a:lstStyle/>
          <a:p>
            <a:r>
              <a:rPr lang="en-US" sz="1200" smtClean="0">
                <a:latin typeface="Tahoma" panose="020B0604030504040204" pitchFamily="34" charset="0"/>
                <a:ea typeface="Tahoma" panose="020B0604030504040204" pitchFamily="34" charset="0"/>
                <a:cs typeface="Tahoma" panose="020B0604030504040204" pitchFamily="34" charset="0"/>
              </a:rPr>
              <a:t>TRA VINH UNIVERSITY</a:t>
            </a:r>
            <a:endParaRPr lang="en-US" sz="1200">
              <a:latin typeface="Tahoma" panose="020B0604030504040204" pitchFamily="34" charset="0"/>
              <a:ea typeface="Tahoma" panose="020B0604030504040204" pitchFamily="34" charset="0"/>
              <a:cs typeface="Tahoma" panose="020B0604030504040204" pitchFamily="34"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9764" y="1348215"/>
            <a:ext cx="7451684" cy="4191572"/>
          </a:xfrm>
          <a:prstGeom prst="rect">
            <a:avLst/>
          </a:prstGeom>
        </p:spPr>
      </p:pic>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091448" y="2368732"/>
            <a:ext cx="1636946" cy="1000711"/>
          </a:xfrm>
          <a:prstGeom prst="rect">
            <a:avLst/>
          </a:prstGeom>
        </p:spPr>
      </p:pic>
      <p:sp>
        <p:nvSpPr>
          <p:cNvPr id="6" name="TextBox 5"/>
          <p:cNvSpPr txBox="1"/>
          <p:nvPr/>
        </p:nvSpPr>
        <p:spPr>
          <a:xfrm>
            <a:off x="8089665" y="3854450"/>
            <a:ext cx="1640513" cy="400110"/>
          </a:xfrm>
          <a:prstGeom prst="rect">
            <a:avLst/>
          </a:prstGeom>
          <a:noFill/>
        </p:spPr>
        <p:txBody>
          <a:bodyPr wrap="square" rtlCol="0">
            <a:spAutoFit/>
          </a:bodyPr>
          <a:lstStyle/>
          <a:p>
            <a:r>
              <a:rPr lang="en-US" sz="2000" smtClean="0">
                <a:latin typeface="Arial" panose="020B0604020202020204" pitchFamily="34" charset="0"/>
                <a:cs typeface="Arial" panose="020B0604020202020204" pitchFamily="34" charset="0"/>
              </a:rPr>
              <a:t>TailwindCSS</a:t>
            </a:r>
            <a:endParaRPr lang="en-US" sz="2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064381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639763" y="905292"/>
            <a:ext cx="5850684" cy="442921"/>
          </a:xfrm>
        </p:spPr>
        <p:txBody>
          <a:bodyPr>
            <a:normAutofit/>
          </a:bodyPr>
          <a:lstStyle/>
          <a:p>
            <a:r>
              <a:rPr lang="en-US" sz="2000" smtClean="0">
                <a:solidFill>
                  <a:schemeClr val="tx1"/>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3.	</a:t>
            </a:r>
            <a:r>
              <a:rPr lang="en-US" sz="2000" smtClean="0">
                <a:solidFill>
                  <a:schemeClr val="tx1"/>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MÔ TẢ ĐỀ TÀI</a:t>
            </a:r>
            <a:endParaRPr lang="en-US" sz="2000">
              <a:solidFill>
                <a:schemeClr val="tx1"/>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6" name="Content Placeholder 2"/>
          <p:cNvSpPr>
            <a:spLocks noGrp="1"/>
          </p:cNvSpPr>
          <p:nvPr>
            <p:ph idx="1"/>
          </p:nvPr>
        </p:nvSpPr>
        <p:spPr>
          <a:xfrm>
            <a:off x="639763" y="1440487"/>
            <a:ext cx="8596668" cy="5417513"/>
          </a:xfrm>
        </p:spPr>
        <p:txBody>
          <a:bodyPr>
            <a:normAutofit fontScale="77500" lnSpcReduction="20000"/>
          </a:bodyPr>
          <a:lstStyle/>
          <a:p>
            <a:pPr marL="0" indent="0" algn="just">
              <a:buNone/>
            </a:pPr>
            <a:r>
              <a:rPr lang="vi-VN" sz="2100" b="1"/>
              <a:t>Bối cảnh &amp; Xu hướng:</a:t>
            </a:r>
          </a:p>
          <a:p>
            <a:pPr algn="just">
              <a:buClr>
                <a:schemeClr val="tx1"/>
              </a:buClr>
              <a:buSzPct val="100000"/>
              <a:buFont typeface="Arial" panose="020B0604020202020204" pitchFamily="34" charset="0"/>
              <a:buChar char="•"/>
            </a:pPr>
            <a:r>
              <a:rPr lang="vi-VN" sz="2100"/>
              <a:t>Sự phát triển mạnh mẽ của công nghệ thông tin và xu hướng chuyển đổi số toàn cầu.</a:t>
            </a:r>
          </a:p>
          <a:p>
            <a:pPr algn="just">
              <a:buClr>
                <a:schemeClr val="tx1"/>
              </a:buClr>
              <a:buSzPct val="100000"/>
              <a:buFont typeface="Arial" panose="020B0604020202020204" pitchFamily="34" charset="0"/>
              <a:buChar char="•"/>
            </a:pPr>
            <a:r>
              <a:rPr lang="vi-VN" sz="2100"/>
              <a:t>Thương mại điện tử trở thành kênh mua sắm thiết yếu, tiện lợi và tiết kiệm thời gian.</a:t>
            </a:r>
          </a:p>
          <a:p>
            <a:pPr algn="just">
              <a:buClr>
                <a:schemeClr val="tx1"/>
              </a:buClr>
              <a:buSzPct val="100000"/>
              <a:buFont typeface="Arial" panose="020B0604020202020204" pitchFamily="34" charset="0"/>
              <a:buChar char="•"/>
            </a:pPr>
            <a:r>
              <a:rPr lang="vi-VN" sz="2100"/>
              <a:t>Sách là sản phẩm tri thức đặc thù, có nhu cầu tra cứu và xem thông tin chi tiết rất cao.</a:t>
            </a:r>
          </a:p>
          <a:p>
            <a:pPr marL="0" indent="0" algn="just">
              <a:buNone/>
            </a:pPr>
            <a:r>
              <a:rPr lang="vi-VN" sz="2100" b="1"/>
              <a:t>Hạn chế của mô hình truyền thống:</a:t>
            </a:r>
          </a:p>
          <a:p>
            <a:pPr algn="just">
              <a:buClr>
                <a:schemeClr val="tx1"/>
              </a:buClr>
              <a:buSzPct val="100000"/>
              <a:buFont typeface="Arial" panose="020B0604020202020204" pitchFamily="34" charset="0"/>
              <a:buChar char="•"/>
            </a:pPr>
            <a:r>
              <a:rPr lang="vi-VN" sz="2100"/>
              <a:t>Giới hạn về không gian trưng bày và thời gian phục vụ.</a:t>
            </a:r>
          </a:p>
          <a:p>
            <a:pPr algn="just">
              <a:buClr>
                <a:schemeClr val="tx1"/>
              </a:buClr>
              <a:buSzPct val="100000"/>
              <a:buFont typeface="Arial" panose="020B0604020202020204" pitchFamily="34" charset="0"/>
              <a:buChar char="•"/>
            </a:pPr>
            <a:r>
              <a:rPr lang="vi-VN" sz="2100"/>
              <a:t>Khó khăn trong việc tìm kiếm thủ công giữa hàng ngàn đầu sách.</a:t>
            </a:r>
          </a:p>
          <a:p>
            <a:pPr algn="just">
              <a:buClr>
                <a:schemeClr val="tx1"/>
              </a:buClr>
              <a:buSzPct val="100000"/>
              <a:buFont typeface="Arial" panose="020B0604020202020204" pitchFamily="34" charset="0"/>
              <a:buChar char="•"/>
            </a:pPr>
            <a:r>
              <a:rPr lang="vi-VN" sz="2100"/>
              <a:t>Quy trình quản lý tồn kho còn thô sơ, chưa tối ưu.</a:t>
            </a:r>
          </a:p>
          <a:p>
            <a:pPr marL="0" indent="0" algn="just">
              <a:buNone/>
            </a:pPr>
            <a:r>
              <a:rPr lang="vi-VN" sz="2100" b="1"/>
              <a:t>Hạn chế của các hệ thống trực tuyến cũ:</a:t>
            </a:r>
          </a:p>
          <a:p>
            <a:pPr algn="just">
              <a:buClr>
                <a:schemeClr val="tx1"/>
              </a:buClr>
              <a:buSzPct val="100000"/>
              <a:buFont typeface="Arial" panose="020B0604020202020204" pitchFamily="34" charset="0"/>
              <a:buChar char="•"/>
            </a:pPr>
            <a:r>
              <a:rPr lang="vi-VN" sz="2100"/>
              <a:t>Giao diện chưa thân thiện, tốc độ tải trang chậm.</a:t>
            </a:r>
          </a:p>
          <a:p>
            <a:pPr algn="just">
              <a:buClr>
                <a:schemeClr val="tx1"/>
              </a:buClr>
              <a:buSzPct val="100000"/>
              <a:buFont typeface="Arial" panose="020B0604020202020204" pitchFamily="34" charset="0"/>
              <a:buChar char="•"/>
            </a:pPr>
            <a:r>
              <a:rPr lang="vi-VN" sz="2100"/>
              <a:t>Thiếu các tính năng tương tác hiện đại và trải nghiệm người dùng chưa tốt.</a:t>
            </a:r>
          </a:p>
          <a:p>
            <a:pPr marL="0" indent="0" algn="just">
              <a:buNone/>
            </a:pPr>
            <a:r>
              <a:rPr lang="vi-VN" sz="2100" b="1"/>
              <a:t>Giải pháp đề xuất:</a:t>
            </a:r>
          </a:p>
          <a:p>
            <a:pPr algn="just">
              <a:buClr>
                <a:schemeClr val="tx1"/>
              </a:buClr>
              <a:buSzPct val="100000"/>
              <a:buFont typeface="Arial" panose="020B0604020202020204" pitchFamily="34" charset="0"/>
              <a:buChar char="•"/>
            </a:pPr>
            <a:r>
              <a:rPr lang="vi-VN" sz="2100"/>
              <a:t>Xây dựng nền tảng website bán sách hiện đại trên bộ công nghệ MERN Stack.</a:t>
            </a:r>
          </a:p>
          <a:p>
            <a:pPr algn="just">
              <a:buClr>
                <a:schemeClr val="tx1"/>
              </a:buClr>
              <a:buSzPct val="100000"/>
              <a:buFont typeface="Arial" panose="020B0604020202020204" pitchFamily="34" charset="0"/>
              <a:buChar char="•"/>
            </a:pPr>
            <a:r>
              <a:rPr lang="vi-VN" sz="2100"/>
              <a:t>Tối ưu hóa hiệu năng, tính tương tác và cung cấp trải nghiệm mua sắm mượt mà.</a:t>
            </a:r>
          </a:p>
          <a:p>
            <a:pPr marL="0" indent="0">
              <a:buNone/>
            </a:pPr>
            <a:endParaRPr lang="en-US">
              <a:solidFill>
                <a:schemeClr val="tx1"/>
              </a:solidFill>
              <a:latin typeface="Tahoma" panose="020B0604030504040204" pitchFamily="34" charset="0"/>
              <a:ea typeface="Tahoma" panose="020B0604030504040204" pitchFamily="34" charset="0"/>
              <a:cs typeface="Tahoma" panose="020B0604030504040204" pitchFamily="34" charset="0"/>
            </a:endParaRPr>
          </a:p>
        </p:txBody>
      </p:sp>
      <p:pic>
        <p:nvPicPr>
          <p:cNvPr id="7" name="Picture 2" descr="Trường Đại học Trà Vinh - tvu.edu.v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 y="1"/>
            <a:ext cx="819150" cy="81915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739775" y="140325"/>
            <a:ext cx="3162300" cy="338554"/>
          </a:xfrm>
          <a:prstGeom prst="rect">
            <a:avLst/>
          </a:prstGeom>
          <a:noFill/>
        </p:spPr>
        <p:txBody>
          <a:bodyPr wrap="square" rtlCol="0">
            <a:spAutoFit/>
          </a:bodyPr>
          <a:lstStyle/>
          <a:p>
            <a:r>
              <a:rPr lang="en-US" sz="1600" smtClean="0">
                <a:latin typeface="Tahoma" panose="020B0604030504040204" pitchFamily="34" charset="0"/>
                <a:ea typeface="Tahoma" panose="020B0604030504040204" pitchFamily="34" charset="0"/>
                <a:cs typeface="Tahoma" panose="020B0604030504040204" pitchFamily="34" charset="0"/>
              </a:rPr>
              <a:t>TRƯỜNG ĐẠI HỌC TRÀ VINH</a:t>
            </a:r>
            <a:endParaRPr lang="en-US" sz="1600">
              <a:latin typeface="Tahoma" panose="020B0604030504040204" pitchFamily="34" charset="0"/>
              <a:ea typeface="Tahoma" panose="020B0604030504040204" pitchFamily="34" charset="0"/>
              <a:cs typeface="Tahoma" panose="020B0604030504040204" pitchFamily="34" charset="0"/>
            </a:endParaRPr>
          </a:p>
        </p:txBody>
      </p:sp>
      <p:sp>
        <p:nvSpPr>
          <p:cNvPr id="9" name="TextBox 8"/>
          <p:cNvSpPr txBox="1"/>
          <p:nvPr/>
        </p:nvSpPr>
        <p:spPr>
          <a:xfrm>
            <a:off x="739775" y="449878"/>
            <a:ext cx="1860550" cy="276999"/>
          </a:xfrm>
          <a:prstGeom prst="rect">
            <a:avLst/>
          </a:prstGeom>
          <a:noFill/>
        </p:spPr>
        <p:txBody>
          <a:bodyPr wrap="square" rtlCol="0">
            <a:spAutoFit/>
          </a:bodyPr>
          <a:lstStyle/>
          <a:p>
            <a:r>
              <a:rPr lang="en-US" sz="1200" smtClean="0">
                <a:latin typeface="Tahoma" panose="020B0604030504040204" pitchFamily="34" charset="0"/>
                <a:ea typeface="Tahoma" panose="020B0604030504040204" pitchFamily="34" charset="0"/>
                <a:cs typeface="Tahoma" panose="020B0604030504040204" pitchFamily="34" charset="0"/>
              </a:rPr>
              <a:t>TRA VINH UNIVERSITY</a:t>
            </a:r>
            <a:endParaRPr lang="en-US" sz="120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940588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xEl>
                                              <p:pRg st="0" end="0"/>
                                            </p:txEl>
                                          </p:spTgt>
                                        </p:tgtEl>
                                        <p:attrNameLst>
                                          <p:attrName>style.visibility</p:attrName>
                                        </p:attrNameLst>
                                      </p:cBhvr>
                                      <p:to>
                                        <p:strVal val="visible"/>
                                      </p:to>
                                    </p:set>
                                    <p:animEffect transition="in" filter="fade">
                                      <p:cBhvr>
                                        <p:cTn id="14" dur="1000"/>
                                        <p:tgtEl>
                                          <p:spTgt spid="6">
                                            <p:txEl>
                                              <p:pRg st="0" end="0"/>
                                            </p:txEl>
                                          </p:spTgt>
                                        </p:tgtEl>
                                      </p:cBhvr>
                                    </p:animEffect>
                                    <p:anim calcmode="lin" valueType="num">
                                      <p:cBhvr>
                                        <p:cTn id="15"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xEl>
                                              <p:pRg st="1" end="1"/>
                                            </p:txEl>
                                          </p:spTgt>
                                        </p:tgtEl>
                                        <p:attrNameLst>
                                          <p:attrName>style.visibility</p:attrName>
                                        </p:attrNameLst>
                                      </p:cBhvr>
                                      <p:to>
                                        <p:strVal val="visible"/>
                                      </p:to>
                                    </p:set>
                                    <p:animEffect transition="in" filter="fade">
                                      <p:cBhvr>
                                        <p:cTn id="21" dur="1000"/>
                                        <p:tgtEl>
                                          <p:spTgt spid="6">
                                            <p:txEl>
                                              <p:pRg st="1" end="1"/>
                                            </p:txEl>
                                          </p:spTgt>
                                        </p:tgtEl>
                                      </p:cBhvr>
                                    </p:animEffect>
                                    <p:anim calcmode="lin" valueType="num">
                                      <p:cBhvr>
                                        <p:cTn id="22"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xEl>
                                              <p:pRg st="2" end="2"/>
                                            </p:txEl>
                                          </p:spTgt>
                                        </p:tgtEl>
                                        <p:attrNameLst>
                                          <p:attrName>style.visibility</p:attrName>
                                        </p:attrNameLst>
                                      </p:cBhvr>
                                      <p:to>
                                        <p:strVal val="visible"/>
                                      </p:to>
                                    </p:set>
                                    <p:animEffect transition="in" filter="fade">
                                      <p:cBhvr>
                                        <p:cTn id="28" dur="1000"/>
                                        <p:tgtEl>
                                          <p:spTgt spid="6">
                                            <p:txEl>
                                              <p:pRg st="2" end="2"/>
                                            </p:txEl>
                                          </p:spTgt>
                                        </p:tgtEl>
                                      </p:cBhvr>
                                    </p:animEffect>
                                    <p:anim calcmode="lin" valueType="num">
                                      <p:cBhvr>
                                        <p:cTn id="29"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6">
                                            <p:txEl>
                                              <p:pRg st="3" end="3"/>
                                            </p:txEl>
                                          </p:spTgt>
                                        </p:tgtEl>
                                        <p:attrNameLst>
                                          <p:attrName>style.visibility</p:attrName>
                                        </p:attrNameLst>
                                      </p:cBhvr>
                                      <p:to>
                                        <p:strVal val="visible"/>
                                      </p:to>
                                    </p:set>
                                    <p:animEffect transition="in" filter="fade">
                                      <p:cBhvr>
                                        <p:cTn id="35" dur="1000"/>
                                        <p:tgtEl>
                                          <p:spTgt spid="6">
                                            <p:txEl>
                                              <p:pRg st="3" end="3"/>
                                            </p:txEl>
                                          </p:spTgt>
                                        </p:tgtEl>
                                      </p:cBhvr>
                                    </p:animEffect>
                                    <p:anim calcmode="lin" valueType="num">
                                      <p:cBhvr>
                                        <p:cTn id="36"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6">
                                            <p:txEl>
                                              <p:pRg st="4" end="4"/>
                                            </p:txEl>
                                          </p:spTgt>
                                        </p:tgtEl>
                                        <p:attrNameLst>
                                          <p:attrName>style.visibility</p:attrName>
                                        </p:attrNameLst>
                                      </p:cBhvr>
                                      <p:to>
                                        <p:strVal val="visible"/>
                                      </p:to>
                                    </p:set>
                                    <p:animEffect transition="in" filter="fade">
                                      <p:cBhvr>
                                        <p:cTn id="42" dur="1000"/>
                                        <p:tgtEl>
                                          <p:spTgt spid="6">
                                            <p:txEl>
                                              <p:pRg st="4" end="4"/>
                                            </p:txEl>
                                          </p:spTgt>
                                        </p:tgtEl>
                                      </p:cBhvr>
                                    </p:animEffect>
                                    <p:anim calcmode="lin" valueType="num">
                                      <p:cBhvr>
                                        <p:cTn id="43"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6">
                                            <p:txEl>
                                              <p:pRg st="5" end="5"/>
                                            </p:txEl>
                                          </p:spTgt>
                                        </p:tgtEl>
                                        <p:attrNameLst>
                                          <p:attrName>style.visibility</p:attrName>
                                        </p:attrNameLst>
                                      </p:cBhvr>
                                      <p:to>
                                        <p:strVal val="visible"/>
                                      </p:to>
                                    </p:set>
                                    <p:animEffect transition="in" filter="fade">
                                      <p:cBhvr>
                                        <p:cTn id="49" dur="1000"/>
                                        <p:tgtEl>
                                          <p:spTgt spid="6">
                                            <p:txEl>
                                              <p:pRg st="5" end="5"/>
                                            </p:txEl>
                                          </p:spTgt>
                                        </p:tgtEl>
                                      </p:cBhvr>
                                    </p:animEffect>
                                    <p:anim calcmode="lin" valueType="num">
                                      <p:cBhvr>
                                        <p:cTn id="50"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6">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6">
                                            <p:txEl>
                                              <p:pRg st="6" end="6"/>
                                            </p:txEl>
                                          </p:spTgt>
                                        </p:tgtEl>
                                        <p:attrNameLst>
                                          <p:attrName>style.visibility</p:attrName>
                                        </p:attrNameLst>
                                      </p:cBhvr>
                                      <p:to>
                                        <p:strVal val="visible"/>
                                      </p:to>
                                    </p:set>
                                    <p:animEffect transition="in" filter="fade">
                                      <p:cBhvr>
                                        <p:cTn id="56" dur="1000"/>
                                        <p:tgtEl>
                                          <p:spTgt spid="6">
                                            <p:txEl>
                                              <p:pRg st="6" end="6"/>
                                            </p:txEl>
                                          </p:spTgt>
                                        </p:tgtEl>
                                      </p:cBhvr>
                                    </p:animEffect>
                                    <p:anim calcmode="lin" valueType="num">
                                      <p:cBhvr>
                                        <p:cTn id="57"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6">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6">
                                            <p:txEl>
                                              <p:pRg st="7" end="7"/>
                                            </p:txEl>
                                          </p:spTgt>
                                        </p:tgtEl>
                                        <p:attrNameLst>
                                          <p:attrName>style.visibility</p:attrName>
                                        </p:attrNameLst>
                                      </p:cBhvr>
                                      <p:to>
                                        <p:strVal val="visible"/>
                                      </p:to>
                                    </p:set>
                                    <p:animEffect transition="in" filter="fade">
                                      <p:cBhvr>
                                        <p:cTn id="63" dur="1000"/>
                                        <p:tgtEl>
                                          <p:spTgt spid="6">
                                            <p:txEl>
                                              <p:pRg st="7" end="7"/>
                                            </p:txEl>
                                          </p:spTgt>
                                        </p:tgtEl>
                                      </p:cBhvr>
                                    </p:animEffect>
                                    <p:anim calcmode="lin" valueType="num">
                                      <p:cBhvr>
                                        <p:cTn id="64" dur="1000" fill="hold"/>
                                        <p:tgtEl>
                                          <p:spTgt spid="6">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6">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6">
                                            <p:txEl>
                                              <p:pRg st="8" end="8"/>
                                            </p:txEl>
                                          </p:spTgt>
                                        </p:tgtEl>
                                        <p:attrNameLst>
                                          <p:attrName>style.visibility</p:attrName>
                                        </p:attrNameLst>
                                      </p:cBhvr>
                                      <p:to>
                                        <p:strVal val="visible"/>
                                      </p:to>
                                    </p:set>
                                    <p:animEffect transition="in" filter="fade">
                                      <p:cBhvr>
                                        <p:cTn id="70" dur="1000"/>
                                        <p:tgtEl>
                                          <p:spTgt spid="6">
                                            <p:txEl>
                                              <p:pRg st="8" end="8"/>
                                            </p:txEl>
                                          </p:spTgt>
                                        </p:tgtEl>
                                      </p:cBhvr>
                                    </p:animEffect>
                                    <p:anim calcmode="lin" valueType="num">
                                      <p:cBhvr>
                                        <p:cTn id="71" dur="1000" fill="hold"/>
                                        <p:tgtEl>
                                          <p:spTgt spid="6">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6">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6">
                                            <p:txEl>
                                              <p:pRg st="9" end="9"/>
                                            </p:txEl>
                                          </p:spTgt>
                                        </p:tgtEl>
                                        <p:attrNameLst>
                                          <p:attrName>style.visibility</p:attrName>
                                        </p:attrNameLst>
                                      </p:cBhvr>
                                      <p:to>
                                        <p:strVal val="visible"/>
                                      </p:to>
                                    </p:set>
                                    <p:animEffect transition="in" filter="fade">
                                      <p:cBhvr>
                                        <p:cTn id="77" dur="1000"/>
                                        <p:tgtEl>
                                          <p:spTgt spid="6">
                                            <p:txEl>
                                              <p:pRg st="9" end="9"/>
                                            </p:txEl>
                                          </p:spTgt>
                                        </p:tgtEl>
                                      </p:cBhvr>
                                    </p:animEffect>
                                    <p:anim calcmode="lin" valueType="num">
                                      <p:cBhvr>
                                        <p:cTn id="78" dur="1000" fill="hold"/>
                                        <p:tgtEl>
                                          <p:spTgt spid="6">
                                            <p:txEl>
                                              <p:pRg st="9" end="9"/>
                                            </p:txEl>
                                          </p:spTgt>
                                        </p:tgtEl>
                                        <p:attrNameLst>
                                          <p:attrName>ppt_x</p:attrName>
                                        </p:attrNameLst>
                                      </p:cBhvr>
                                      <p:tavLst>
                                        <p:tav tm="0">
                                          <p:val>
                                            <p:strVal val="#ppt_x"/>
                                          </p:val>
                                        </p:tav>
                                        <p:tav tm="100000">
                                          <p:val>
                                            <p:strVal val="#ppt_x"/>
                                          </p:val>
                                        </p:tav>
                                      </p:tavLst>
                                    </p:anim>
                                    <p:anim calcmode="lin" valueType="num">
                                      <p:cBhvr>
                                        <p:cTn id="79" dur="1000" fill="hold"/>
                                        <p:tgtEl>
                                          <p:spTgt spid="6">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6">
                                            <p:txEl>
                                              <p:pRg st="10" end="10"/>
                                            </p:txEl>
                                          </p:spTgt>
                                        </p:tgtEl>
                                        <p:attrNameLst>
                                          <p:attrName>style.visibility</p:attrName>
                                        </p:attrNameLst>
                                      </p:cBhvr>
                                      <p:to>
                                        <p:strVal val="visible"/>
                                      </p:to>
                                    </p:set>
                                    <p:animEffect transition="in" filter="fade">
                                      <p:cBhvr>
                                        <p:cTn id="84" dur="1000"/>
                                        <p:tgtEl>
                                          <p:spTgt spid="6">
                                            <p:txEl>
                                              <p:pRg st="10" end="10"/>
                                            </p:txEl>
                                          </p:spTgt>
                                        </p:tgtEl>
                                      </p:cBhvr>
                                    </p:animEffect>
                                    <p:anim calcmode="lin" valueType="num">
                                      <p:cBhvr>
                                        <p:cTn id="85" dur="1000" fill="hold"/>
                                        <p:tgtEl>
                                          <p:spTgt spid="6">
                                            <p:txEl>
                                              <p:pRg st="10" end="10"/>
                                            </p:txEl>
                                          </p:spTgt>
                                        </p:tgtEl>
                                        <p:attrNameLst>
                                          <p:attrName>ppt_x</p:attrName>
                                        </p:attrNameLst>
                                      </p:cBhvr>
                                      <p:tavLst>
                                        <p:tav tm="0">
                                          <p:val>
                                            <p:strVal val="#ppt_x"/>
                                          </p:val>
                                        </p:tav>
                                        <p:tav tm="100000">
                                          <p:val>
                                            <p:strVal val="#ppt_x"/>
                                          </p:val>
                                        </p:tav>
                                      </p:tavLst>
                                    </p:anim>
                                    <p:anim calcmode="lin" valueType="num">
                                      <p:cBhvr>
                                        <p:cTn id="86" dur="1000" fill="hold"/>
                                        <p:tgtEl>
                                          <p:spTgt spid="6">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6">
                                            <p:txEl>
                                              <p:pRg st="11" end="11"/>
                                            </p:txEl>
                                          </p:spTgt>
                                        </p:tgtEl>
                                        <p:attrNameLst>
                                          <p:attrName>style.visibility</p:attrName>
                                        </p:attrNameLst>
                                      </p:cBhvr>
                                      <p:to>
                                        <p:strVal val="visible"/>
                                      </p:to>
                                    </p:set>
                                    <p:animEffect transition="in" filter="fade">
                                      <p:cBhvr>
                                        <p:cTn id="91" dur="1000"/>
                                        <p:tgtEl>
                                          <p:spTgt spid="6">
                                            <p:txEl>
                                              <p:pRg st="11" end="11"/>
                                            </p:txEl>
                                          </p:spTgt>
                                        </p:tgtEl>
                                      </p:cBhvr>
                                    </p:animEffect>
                                    <p:anim calcmode="lin" valueType="num">
                                      <p:cBhvr>
                                        <p:cTn id="92" dur="1000" fill="hold"/>
                                        <p:tgtEl>
                                          <p:spTgt spid="6">
                                            <p:txEl>
                                              <p:pRg st="11" end="11"/>
                                            </p:txEl>
                                          </p:spTgt>
                                        </p:tgtEl>
                                        <p:attrNameLst>
                                          <p:attrName>ppt_x</p:attrName>
                                        </p:attrNameLst>
                                      </p:cBhvr>
                                      <p:tavLst>
                                        <p:tav tm="0">
                                          <p:val>
                                            <p:strVal val="#ppt_x"/>
                                          </p:val>
                                        </p:tav>
                                        <p:tav tm="100000">
                                          <p:val>
                                            <p:strVal val="#ppt_x"/>
                                          </p:val>
                                        </p:tav>
                                      </p:tavLst>
                                    </p:anim>
                                    <p:anim calcmode="lin" valueType="num">
                                      <p:cBhvr>
                                        <p:cTn id="93" dur="1000" fill="hold"/>
                                        <p:tgtEl>
                                          <p:spTgt spid="6">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6">
                                            <p:txEl>
                                              <p:pRg st="12" end="12"/>
                                            </p:txEl>
                                          </p:spTgt>
                                        </p:tgtEl>
                                        <p:attrNameLst>
                                          <p:attrName>style.visibility</p:attrName>
                                        </p:attrNameLst>
                                      </p:cBhvr>
                                      <p:to>
                                        <p:strVal val="visible"/>
                                      </p:to>
                                    </p:set>
                                    <p:animEffect transition="in" filter="fade">
                                      <p:cBhvr>
                                        <p:cTn id="98" dur="1000"/>
                                        <p:tgtEl>
                                          <p:spTgt spid="6">
                                            <p:txEl>
                                              <p:pRg st="12" end="12"/>
                                            </p:txEl>
                                          </p:spTgt>
                                        </p:tgtEl>
                                      </p:cBhvr>
                                    </p:animEffect>
                                    <p:anim calcmode="lin" valueType="num">
                                      <p:cBhvr>
                                        <p:cTn id="99" dur="1000" fill="hold"/>
                                        <p:tgtEl>
                                          <p:spTgt spid="6">
                                            <p:txEl>
                                              <p:pRg st="12" end="12"/>
                                            </p:txEl>
                                          </p:spTgt>
                                        </p:tgtEl>
                                        <p:attrNameLst>
                                          <p:attrName>ppt_x</p:attrName>
                                        </p:attrNameLst>
                                      </p:cBhvr>
                                      <p:tavLst>
                                        <p:tav tm="0">
                                          <p:val>
                                            <p:strVal val="#ppt_x"/>
                                          </p:val>
                                        </p:tav>
                                        <p:tav tm="100000">
                                          <p:val>
                                            <p:strVal val="#ppt_x"/>
                                          </p:val>
                                        </p:tav>
                                      </p:tavLst>
                                    </p:anim>
                                    <p:anim calcmode="lin" valueType="num">
                                      <p:cBhvr>
                                        <p:cTn id="100" dur="1000" fill="hold"/>
                                        <p:tgtEl>
                                          <p:spTgt spid="6">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grpId="0" nodeType="clickEffect">
                                  <p:stCondLst>
                                    <p:cond delay="0"/>
                                  </p:stCondLst>
                                  <p:childTnLst>
                                    <p:set>
                                      <p:cBhvr>
                                        <p:cTn id="104" dur="1" fill="hold">
                                          <p:stCondLst>
                                            <p:cond delay="0"/>
                                          </p:stCondLst>
                                        </p:cTn>
                                        <p:tgtEl>
                                          <p:spTgt spid="6">
                                            <p:txEl>
                                              <p:pRg st="13" end="13"/>
                                            </p:txEl>
                                          </p:spTgt>
                                        </p:tgtEl>
                                        <p:attrNameLst>
                                          <p:attrName>style.visibility</p:attrName>
                                        </p:attrNameLst>
                                      </p:cBhvr>
                                      <p:to>
                                        <p:strVal val="visible"/>
                                      </p:to>
                                    </p:set>
                                    <p:animEffect transition="in" filter="fade">
                                      <p:cBhvr>
                                        <p:cTn id="105" dur="1000"/>
                                        <p:tgtEl>
                                          <p:spTgt spid="6">
                                            <p:txEl>
                                              <p:pRg st="13" end="13"/>
                                            </p:txEl>
                                          </p:spTgt>
                                        </p:tgtEl>
                                      </p:cBhvr>
                                    </p:animEffect>
                                    <p:anim calcmode="lin" valueType="num">
                                      <p:cBhvr>
                                        <p:cTn id="106" dur="1000" fill="hold"/>
                                        <p:tgtEl>
                                          <p:spTgt spid="6">
                                            <p:txEl>
                                              <p:pRg st="13" end="13"/>
                                            </p:txEl>
                                          </p:spTgt>
                                        </p:tgtEl>
                                        <p:attrNameLst>
                                          <p:attrName>ppt_x</p:attrName>
                                        </p:attrNameLst>
                                      </p:cBhvr>
                                      <p:tavLst>
                                        <p:tav tm="0">
                                          <p:val>
                                            <p:strVal val="#ppt_x"/>
                                          </p:val>
                                        </p:tav>
                                        <p:tav tm="100000">
                                          <p:val>
                                            <p:strVal val="#ppt_x"/>
                                          </p:val>
                                        </p:tav>
                                      </p:tavLst>
                                    </p:anim>
                                    <p:anim calcmode="lin" valueType="num">
                                      <p:cBhvr>
                                        <p:cTn id="107" dur="1000" fill="hold"/>
                                        <p:tgtEl>
                                          <p:spTgt spid="6">
                                            <p:txEl>
                                              <p:pRg st="13" end="1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639762" y="905292"/>
            <a:ext cx="8596669" cy="442921"/>
          </a:xfrm>
        </p:spPr>
        <p:txBody>
          <a:bodyPr>
            <a:normAutofit/>
          </a:bodyPr>
          <a:lstStyle/>
          <a:p>
            <a:r>
              <a:rPr lang="en-US" sz="2000" smtClean="0">
                <a:solidFill>
                  <a:schemeClr val="tx1"/>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4. MÔ HÌNH DỮ LIỆU</a:t>
            </a:r>
            <a:endParaRPr lang="en-US" sz="2000">
              <a:solidFill>
                <a:schemeClr val="tx1"/>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endParaRPr>
          </a:p>
        </p:txBody>
      </p:sp>
      <p:pic>
        <p:nvPicPr>
          <p:cNvPr id="6" name="Picture 2" descr="Trường Đại học Trà Vinh - tvu.edu.v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 y="1"/>
            <a:ext cx="819150" cy="81915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739775" y="140325"/>
            <a:ext cx="3162300" cy="338554"/>
          </a:xfrm>
          <a:prstGeom prst="rect">
            <a:avLst/>
          </a:prstGeom>
          <a:noFill/>
        </p:spPr>
        <p:txBody>
          <a:bodyPr wrap="square" rtlCol="0">
            <a:spAutoFit/>
          </a:bodyPr>
          <a:lstStyle/>
          <a:p>
            <a:r>
              <a:rPr lang="en-US" sz="1600" smtClean="0">
                <a:latin typeface="Tahoma" panose="020B0604030504040204" pitchFamily="34" charset="0"/>
                <a:ea typeface="Tahoma" panose="020B0604030504040204" pitchFamily="34" charset="0"/>
                <a:cs typeface="Tahoma" panose="020B0604030504040204" pitchFamily="34" charset="0"/>
              </a:rPr>
              <a:t>TRƯỜNG ĐẠI HỌC TRÀ VINH</a:t>
            </a:r>
            <a:endParaRPr lang="en-US" sz="1600">
              <a:latin typeface="Tahoma" panose="020B0604030504040204" pitchFamily="34" charset="0"/>
              <a:ea typeface="Tahoma" panose="020B0604030504040204" pitchFamily="34" charset="0"/>
              <a:cs typeface="Tahoma" panose="020B0604030504040204" pitchFamily="34" charset="0"/>
            </a:endParaRPr>
          </a:p>
        </p:txBody>
      </p:sp>
      <p:sp>
        <p:nvSpPr>
          <p:cNvPr id="8" name="TextBox 7"/>
          <p:cNvSpPr txBox="1"/>
          <p:nvPr/>
        </p:nvSpPr>
        <p:spPr>
          <a:xfrm>
            <a:off x="739775" y="449878"/>
            <a:ext cx="1860550" cy="276999"/>
          </a:xfrm>
          <a:prstGeom prst="rect">
            <a:avLst/>
          </a:prstGeom>
          <a:noFill/>
        </p:spPr>
        <p:txBody>
          <a:bodyPr wrap="square" rtlCol="0">
            <a:spAutoFit/>
          </a:bodyPr>
          <a:lstStyle/>
          <a:p>
            <a:r>
              <a:rPr lang="en-US" sz="1200" smtClean="0">
                <a:latin typeface="Tahoma" panose="020B0604030504040204" pitchFamily="34" charset="0"/>
                <a:ea typeface="Tahoma" panose="020B0604030504040204" pitchFamily="34" charset="0"/>
                <a:cs typeface="Tahoma" panose="020B0604030504040204" pitchFamily="34" charset="0"/>
              </a:rPr>
              <a:t>TRA VINH UNIVERSITY</a:t>
            </a:r>
            <a:endParaRPr lang="en-US" sz="1200">
              <a:latin typeface="Tahoma" panose="020B0604030504040204" pitchFamily="34" charset="0"/>
              <a:ea typeface="Tahoma" panose="020B0604030504040204" pitchFamily="34" charset="0"/>
              <a:cs typeface="Tahoma" panose="020B0604030504040204" pitchFamily="34"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9775" y="1348214"/>
            <a:ext cx="6910705" cy="5104630"/>
          </a:xfrm>
          <a:prstGeom prst="rect">
            <a:avLst/>
          </a:prstGeom>
        </p:spPr>
      </p:pic>
    </p:spTree>
    <p:extLst>
      <p:ext uri="{BB962C8B-B14F-4D97-AF65-F5344CB8AC3E}">
        <p14:creationId xmlns:p14="http://schemas.microsoft.com/office/powerpoint/2010/main" val="2007747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1"/>
          <p:cNvSpPr>
            <a:spLocks noGrp="1"/>
          </p:cNvSpPr>
          <p:nvPr>
            <p:ph type="title"/>
          </p:nvPr>
        </p:nvSpPr>
        <p:spPr>
          <a:xfrm>
            <a:off x="639762" y="905292"/>
            <a:ext cx="8596669" cy="442921"/>
          </a:xfrm>
        </p:spPr>
        <p:txBody>
          <a:bodyPr>
            <a:normAutofit/>
          </a:bodyPr>
          <a:lstStyle/>
          <a:p>
            <a:r>
              <a:rPr lang="en-US" sz="2000" smtClean="0">
                <a:solidFill>
                  <a:schemeClr val="tx1"/>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5. MÔ HÌNH XỬ LÝ</a:t>
            </a:r>
            <a:endParaRPr lang="en-US" sz="2000">
              <a:solidFill>
                <a:schemeClr val="tx1"/>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endParaRPr>
          </a:p>
        </p:txBody>
      </p:sp>
      <p:pic>
        <p:nvPicPr>
          <p:cNvPr id="25" name="Picture 2" descr="Trường Đại học Trà Vinh - tvu.edu.v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 y="1"/>
            <a:ext cx="819150" cy="819150"/>
          </a:xfrm>
          <a:prstGeom prst="rect">
            <a:avLst/>
          </a:prstGeom>
          <a:noFill/>
          <a:extLst>
            <a:ext uri="{909E8E84-426E-40DD-AFC4-6F175D3DCCD1}">
              <a14:hiddenFill xmlns:a14="http://schemas.microsoft.com/office/drawing/2010/main">
                <a:solidFill>
                  <a:srgbClr val="FFFFFF"/>
                </a:solidFill>
              </a14:hiddenFill>
            </a:ext>
          </a:extLst>
        </p:spPr>
      </p:pic>
      <p:sp>
        <p:nvSpPr>
          <p:cNvPr id="26" name="TextBox 25"/>
          <p:cNvSpPr txBox="1"/>
          <p:nvPr/>
        </p:nvSpPr>
        <p:spPr>
          <a:xfrm>
            <a:off x="739775" y="140325"/>
            <a:ext cx="3162300" cy="338554"/>
          </a:xfrm>
          <a:prstGeom prst="rect">
            <a:avLst/>
          </a:prstGeom>
          <a:noFill/>
        </p:spPr>
        <p:txBody>
          <a:bodyPr wrap="square" rtlCol="0">
            <a:spAutoFit/>
          </a:bodyPr>
          <a:lstStyle/>
          <a:p>
            <a:r>
              <a:rPr lang="en-US" sz="1600" smtClean="0">
                <a:latin typeface="Tahoma" panose="020B0604030504040204" pitchFamily="34" charset="0"/>
                <a:ea typeface="Tahoma" panose="020B0604030504040204" pitchFamily="34" charset="0"/>
                <a:cs typeface="Tahoma" panose="020B0604030504040204" pitchFamily="34" charset="0"/>
              </a:rPr>
              <a:t>TRƯỜNG ĐẠI HỌC TRÀ VINH</a:t>
            </a:r>
            <a:endParaRPr lang="en-US" sz="1600">
              <a:latin typeface="Tahoma" panose="020B0604030504040204" pitchFamily="34" charset="0"/>
              <a:ea typeface="Tahoma" panose="020B0604030504040204" pitchFamily="34" charset="0"/>
              <a:cs typeface="Tahoma" panose="020B0604030504040204" pitchFamily="34" charset="0"/>
            </a:endParaRPr>
          </a:p>
        </p:txBody>
      </p:sp>
      <p:sp>
        <p:nvSpPr>
          <p:cNvPr id="27" name="TextBox 26"/>
          <p:cNvSpPr txBox="1"/>
          <p:nvPr/>
        </p:nvSpPr>
        <p:spPr>
          <a:xfrm>
            <a:off x="739775" y="449878"/>
            <a:ext cx="1860550" cy="276999"/>
          </a:xfrm>
          <a:prstGeom prst="rect">
            <a:avLst/>
          </a:prstGeom>
          <a:noFill/>
        </p:spPr>
        <p:txBody>
          <a:bodyPr wrap="square" rtlCol="0">
            <a:spAutoFit/>
          </a:bodyPr>
          <a:lstStyle/>
          <a:p>
            <a:r>
              <a:rPr lang="en-US" sz="1200" smtClean="0">
                <a:latin typeface="Tahoma" panose="020B0604030504040204" pitchFamily="34" charset="0"/>
                <a:ea typeface="Tahoma" panose="020B0604030504040204" pitchFamily="34" charset="0"/>
                <a:cs typeface="Tahoma" panose="020B0604030504040204" pitchFamily="34" charset="0"/>
              </a:rPr>
              <a:t>TRA VINH UNIVERSITY</a:t>
            </a:r>
            <a:endParaRPr lang="en-US" sz="1200">
              <a:latin typeface="Tahoma" panose="020B0604030504040204" pitchFamily="34" charset="0"/>
              <a:ea typeface="Tahoma" panose="020B0604030504040204" pitchFamily="34" charset="0"/>
              <a:cs typeface="Tahoma" panose="020B0604030504040204" pitchFamily="34" charset="0"/>
            </a:endParaRPr>
          </a:p>
        </p:txBody>
      </p:sp>
      <p:pic>
        <p:nvPicPr>
          <p:cNvPr id="3" name="Picture 2"/>
          <p:cNvPicPr>
            <a:picLocks noChangeAspect="1"/>
          </p:cNvPicPr>
          <p:nvPr/>
        </p:nvPicPr>
        <p:blipFill>
          <a:blip r:embed="rId3"/>
          <a:stretch>
            <a:fillRect/>
          </a:stretch>
        </p:blipFill>
        <p:spPr>
          <a:xfrm>
            <a:off x="739775" y="1348212"/>
            <a:ext cx="6962353" cy="5276107"/>
          </a:xfrm>
          <a:prstGeom prst="rect">
            <a:avLst/>
          </a:prstGeom>
        </p:spPr>
      </p:pic>
    </p:spTree>
    <p:extLst>
      <p:ext uri="{BB962C8B-B14F-4D97-AF65-F5344CB8AC3E}">
        <p14:creationId xmlns:p14="http://schemas.microsoft.com/office/powerpoint/2010/main" val="444506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1000"/>
                                        <p:tgtEl>
                                          <p:spTgt spid="23"/>
                                        </p:tgtEl>
                                      </p:cBhvr>
                                    </p:animEffect>
                                    <p:anim calcmode="lin" valueType="num">
                                      <p:cBhvr>
                                        <p:cTn id="8" dur="1000" fill="hold"/>
                                        <p:tgtEl>
                                          <p:spTgt spid="23"/>
                                        </p:tgtEl>
                                        <p:attrNameLst>
                                          <p:attrName>ppt_x</p:attrName>
                                        </p:attrNameLst>
                                      </p:cBhvr>
                                      <p:tavLst>
                                        <p:tav tm="0">
                                          <p:val>
                                            <p:strVal val="#ppt_x"/>
                                          </p:val>
                                        </p:tav>
                                        <p:tav tm="100000">
                                          <p:val>
                                            <p:strVal val="#ppt_x"/>
                                          </p:val>
                                        </p:tav>
                                      </p:tavLst>
                                    </p:anim>
                                    <p:anim calcmode="lin" valueType="num">
                                      <p:cBhvr>
                                        <p:cTn id="9"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639763" y="905292"/>
            <a:ext cx="3165883" cy="442921"/>
          </a:xfrm>
        </p:spPr>
        <p:txBody>
          <a:bodyPr>
            <a:normAutofit/>
          </a:bodyPr>
          <a:lstStyle/>
          <a:p>
            <a:r>
              <a:rPr lang="en-US" sz="2000" smtClean="0">
                <a:solidFill>
                  <a:schemeClr val="tx1"/>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6.	KẾT QUẢ ĐẠT ĐƯỢC</a:t>
            </a:r>
            <a:endParaRPr lang="en-US" sz="2000">
              <a:solidFill>
                <a:schemeClr val="tx1"/>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endParaRPr>
          </a:p>
        </p:txBody>
      </p:sp>
      <p:pic>
        <p:nvPicPr>
          <p:cNvPr id="5" name="Picture 2" descr="Trường Đại học Trà Vinh - tvu.edu.v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 y="1"/>
            <a:ext cx="819150" cy="81915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739775" y="140325"/>
            <a:ext cx="3162300" cy="338554"/>
          </a:xfrm>
          <a:prstGeom prst="rect">
            <a:avLst/>
          </a:prstGeom>
          <a:noFill/>
        </p:spPr>
        <p:txBody>
          <a:bodyPr wrap="square" rtlCol="0">
            <a:spAutoFit/>
          </a:bodyPr>
          <a:lstStyle/>
          <a:p>
            <a:r>
              <a:rPr lang="en-US" sz="1600" smtClean="0">
                <a:latin typeface="Tahoma" panose="020B0604030504040204" pitchFamily="34" charset="0"/>
                <a:ea typeface="Tahoma" panose="020B0604030504040204" pitchFamily="34" charset="0"/>
                <a:cs typeface="Tahoma" panose="020B0604030504040204" pitchFamily="34" charset="0"/>
              </a:rPr>
              <a:t>TRƯỜNG ĐẠI HỌC TRÀ VINH</a:t>
            </a:r>
            <a:endParaRPr lang="en-US" sz="1600">
              <a:latin typeface="Tahoma" panose="020B0604030504040204" pitchFamily="34" charset="0"/>
              <a:ea typeface="Tahoma" panose="020B0604030504040204" pitchFamily="34" charset="0"/>
              <a:cs typeface="Tahoma" panose="020B0604030504040204" pitchFamily="34" charset="0"/>
            </a:endParaRPr>
          </a:p>
        </p:txBody>
      </p:sp>
      <p:sp>
        <p:nvSpPr>
          <p:cNvPr id="7" name="TextBox 6"/>
          <p:cNvSpPr txBox="1"/>
          <p:nvPr/>
        </p:nvSpPr>
        <p:spPr>
          <a:xfrm>
            <a:off x="739775" y="449878"/>
            <a:ext cx="1860550" cy="276999"/>
          </a:xfrm>
          <a:prstGeom prst="rect">
            <a:avLst/>
          </a:prstGeom>
          <a:noFill/>
        </p:spPr>
        <p:txBody>
          <a:bodyPr wrap="square" rtlCol="0">
            <a:spAutoFit/>
          </a:bodyPr>
          <a:lstStyle/>
          <a:p>
            <a:r>
              <a:rPr lang="en-US" sz="1200" smtClean="0">
                <a:latin typeface="Tahoma" panose="020B0604030504040204" pitchFamily="34" charset="0"/>
                <a:ea typeface="Tahoma" panose="020B0604030504040204" pitchFamily="34" charset="0"/>
                <a:cs typeface="Tahoma" panose="020B0604030504040204" pitchFamily="34" charset="0"/>
              </a:rPr>
              <a:t>TRA VINH UNIVERSITY</a:t>
            </a:r>
            <a:endParaRPr lang="en-US" sz="1200">
              <a:latin typeface="Tahoma" panose="020B0604030504040204" pitchFamily="34" charset="0"/>
              <a:ea typeface="Tahoma" panose="020B0604030504040204" pitchFamily="34" charset="0"/>
              <a:cs typeface="Tahoma" panose="020B0604030504040204" pitchFamily="34" charset="0"/>
            </a:endParaRPr>
          </a:p>
        </p:txBody>
      </p:sp>
      <p:sp>
        <p:nvSpPr>
          <p:cNvPr id="8" name="Content Placeholder 2"/>
          <p:cNvSpPr txBox="1">
            <a:spLocks/>
          </p:cNvSpPr>
          <p:nvPr/>
        </p:nvSpPr>
        <p:spPr>
          <a:xfrm>
            <a:off x="739776" y="1434354"/>
            <a:ext cx="3162299" cy="424091"/>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gn="just">
              <a:buClrTx/>
              <a:buNone/>
            </a:pPr>
            <a:r>
              <a:rPr lang="en-US" i="1" smtClean="0">
                <a:solidFill>
                  <a:schemeClr val="tx1"/>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Một số giao diện trang web</a:t>
            </a:r>
            <a:endParaRPr lang="en-US">
              <a:solidFill>
                <a:schemeClr val="tx1"/>
              </a:solidFill>
              <a:latin typeface="Tahoma" panose="020B0604030504040204" pitchFamily="34" charset="0"/>
              <a:ea typeface="Tahoma" panose="020B0604030504040204" pitchFamily="34" charset="0"/>
              <a:cs typeface="Tahoma" panose="020B0604030504040204" pitchFamily="34" charset="0"/>
            </a:endParaRPr>
          </a:p>
        </p:txBody>
      </p:sp>
      <p:pic>
        <p:nvPicPr>
          <p:cNvPr id="2050" name="Picture 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9763" y="1858445"/>
            <a:ext cx="1748438" cy="4731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1" name="Picture 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88214" y="1858444"/>
            <a:ext cx="2970860" cy="4731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2" name="Picture 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559087" y="1858444"/>
            <a:ext cx="5116784" cy="4731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21398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0" end="0"/>
                                            </p:txEl>
                                          </p:spTgt>
                                        </p:tgtEl>
                                        <p:attrNameLst>
                                          <p:attrName>style.visibility</p:attrName>
                                        </p:attrNameLst>
                                      </p:cBhvr>
                                      <p:to>
                                        <p:strVal val="visible"/>
                                      </p:to>
                                    </p:set>
                                    <p:animEffect transition="in" filter="fade">
                                      <p:cBhvr>
                                        <p:cTn id="14" dur="1000"/>
                                        <p:tgtEl>
                                          <p:spTgt spid="8">
                                            <p:txEl>
                                              <p:pRg st="0" end="0"/>
                                            </p:txEl>
                                          </p:spTgt>
                                        </p:tgtEl>
                                      </p:cBhvr>
                                    </p:animEffect>
                                    <p:anim calcmode="lin" valueType="num">
                                      <p:cBhvr>
                                        <p:cTn id="15"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639763" y="905292"/>
            <a:ext cx="5850684" cy="442921"/>
          </a:xfrm>
        </p:spPr>
        <p:txBody>
          <a:bodyPr>
            <a:normAutofit/>
          </a:bodyPr>
          <a:lstStyle/>
          <a:p>
            <a:r>
              <a:rPr lang="en-US" sz="2000" smtClean="0">
                <a:solidFill>
                  <a:schemeClr val="tx1"/>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6.	KẾT QUẢ ĐẠT ĐƯỢC</a:t>
            </a:r>
            <a:endParaRPr lang="en-US" sz="2000">
              <a:solidFill>
                <a:schemeClr val="tx1"/>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endParaRPr>
          </a:p>
        </p:txBody>
      </p:sp>
      <p:pic>
        <p:nvPicPr>
          <p:cNvPr id="6" name="Picture 2" descr="Trường Đại học Trà Vinh - tvu.edu.v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 y="1"/>
            <a:ext cx="819150" cy="81915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739775" y="140325"/>
            <a:ext cx="3162300" cy="338554"/>
          </a:xfrm>
          <a:prstGeom prst="rect">
            <a:avLst/>
          </a:prstGeom>
          <a:noFill/>
        </p:spPr>
        <p:txBody>
          <a:bodyPr wrap="square" rtlCol="0">
            <a:spAutoFit/>
          </a:bodyPr>
          <a:lstStyle/>
          <a:p>
            <a:r>
              <a:rPr lang="en-US" sz="1600" smtClean="0">
                <a:latin typeface="Tahoma" panose="020B0604030504040204" pitchFamily="34" charset="0"/>
                <a:ea typeface="Tahoma" panose="020B0604030504040204" pitchFamily="34" charset="0"/>
                <a:cs typeface="Tahoma" panose="020B0604030504040204" pitchFamily="34" charset="0"/>
              </a:rPr>
              <a:t>TRƯỜNG ĐẠI HỌC TRÀ VINH</a:t>
            </a:r>
            <a:endParaRPr lang="en-US" sz="1600">
              <a:latin typeface="Tahoma" panose="020B0604030504040204" pitchFamily="34" charset="0"/>
              <a:ea typeface="Tahoma" panose="020B0604030504040204" pitchFamily="34" charset="0"/>
              <a:cs typeface="Tahoma" panose="020B0604030504040204" pitchFamily="34" charset="0"/>
            </a:endParaRPr>
          </a:p>
        </p:txBody>
      </p:sp>
      <p:sp>
        <p:nvSpPr>
          <p:cNvPr id="8" name="TextBox 7"/>
          <p:cNvSpPr txBox="1"/>
          <p:nvPr/>
        </p:nvSpPr>
        <p:spPr>
          <a:xfrm>
            <a:off x="739775" y="449878"/>
            <a:ext cx="1860550" cy="276999"/>
          </a:xfrm>
          <a:prstGeom prst="rect">
            <a:avLst/>
          </a:prstGeom>
          <a:noFill/>
        </p:spPr>
        <p:txBody>
          <a:bodyPr wrap="square" rtlCol="0">
            <a:spAutoFit/>
          </a:bodyPr>
          <a:lstStyle/>
          <a:p>
            <a:r>
              <a:rPr lang="en-US" sz="1200" smtClean="0">
                <a:latin typeface="Tahoma" panose="020B0604030504040204" pitchFamily="34" charset="0"/>
                <a:ea typeface="Tahoma" panose="020B0604030504040204" pitchFamily="34" charset="0"/>
                <a:cs typeface="Tahoma" panose="020B0604030504040204" pitchFamily="34" charset="0"/>
              </a:rPr>
              <a:t>TRA VINH UNIVERSITY</a:t>
            </a:r>
            <a:endParaRPr lang="en-US" sz="1200">
              <a:latin typeface="Tahoma" panose="020B0604030504040204" pitchFamily="34" charset="0"/>
              <a:ea typeface="Tahoma" panose="020B0604030504040204" pitchFamily="34" charset="0"/>
              <a:cs typeface="Tahoma" panose="020B0604030504040204" pitchFamily="34" charset="0"/>
            </a:endParaRPr>
          </a:p>
        </p:txBody>
      </p:sp>
      <p:sp>
        <p:nvSpPr>
          <p:cNvPr id="9" name="Content Placeholder 2"/>
          <p:cNvSpPr txBox="1">
            <a:spLocks/>
          </p:cNvSpPr>
          <p:nvPr/>
        </p:nvSpPr>
        <p:spPr>
          <a:xfrm>
            <a:off x="739775" y="1526629"/>
            <a:ext cx="8596668" cy="419345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lvl="0" algn="just">
              <a:buClrTx/>
              <a:buFont typeface="Arial" panose="020B0604020202020204" pitchFamily="34" charset="0"/>
              <a:buChar char="•"/>
            </a:pPr>
            <a:r>
              <a:rPr lang="en-US" sz="2000">
                <a:latin typeface="Arial" panose="020B0604020202020204" pitchFamily="34" charset="0"/>
                <a:cs typeface="Arial" panose="020B0604020202020204" pitchFamily="34" charset="0"/>
              </a:rPr>
              <a:t>Xây dựng thành công website bán sách sử dụng bộ công nghệ MERN Stack (MongoDB, Express.js, ReactJS, Node.js) kết hợp với thư viện Tailwind CSS để tối ưu hóa giao diện.</a:t>
            </a:r>
          </a:p>
          <a:p>
            <a:pPr lvl="0" algn="just">
              <a:buClrTx/>
              <a:buFont typeface="Arial" panose="020B0604020202020204" pitchFamily="34" charset="0"/>
              <a:buChar char="•"/>
            </a:pPr>
            <a:r>
              <a:rPr lang="en-US" sz="2000">
                <a:latin typeface="Arial" panose="020B0604020202020204" pitchFamily="34" charset="0"/>
                <a:cs typeface="Arial" panose="020B0604020202020204" pitchFamily="34" charset="0"/>
              </a:rPr>
              <a:t>Hoàn thiện các nghiệp vụ thương mại điện tử cốt lõi từ quản lý kho sách, danh mục đến quy trình đặt hàng và theo dõi đơn hàng trực tuyến.</a:t>
            </a:r>
          </a:p>
          <a:p>
            <a:pPr lvl="0" algn="just">
              <a:buClrTx/>
              <a:buFont typeface="Arial" panose="020B0604020202020204" pitchFamily="34" charset="0"/>
              <a:buChar char="•"/>
            </a:pPr>
            <a:r>
              <a:rPr lang="en-US" sz="2000">
                <a:latin typeface="Arial" panose="020B0604020202020204" pitchFamily="34" charset="0"/>
                <a:cs typeface="Arial" panose="020B0604020202020204" pitchFamily="34" charset="0"/>
              </a:rPr>
              <a:t>Xây dựng cơ chế đánh giá chặt chẽ, chỉ cho phép những khách hàng đã thực hiện giao dịch thành công mới được tham gia đánh giá, giúp tăng tính khách quan và uy tín cho nhà sách.</a:t>
            </a:r>
          </a:p>
          <a:p>
            <a:pPr lvl="0" algn="just">
              <a:buClrTx/>
              <a:buFont typeface="Arial" panose="020B0604020202020204" pitchFamily="34" charset="0"/>
              <a:buChar char="•"/>
            </a:pPr>
            <a:r>
              <a:rPr lang="en-US" sz="2000">
                <a:latin typeface="Arial" panose="020B0604020202020204" pitchFamily="34" charset="0"/>
                <a:cs typeface="Arial" panose="020B0604020202020204" pitchFamily="34" charset="0"/>
              </a:rPr>
              <a:t>Giao diện website được thiết kế Responsive, đảm bảo khả năng hiển thị tối ưu, mượt mà trên nhiều kích thước màn hình và loại thiết bị khác </a:t>
            </a:r>
            <a:r>
              <a:rPr lang="en-US" sz="2000">
                <a:latin typeface="Arial" panose="020B0604020202020204" pitchFamily="34" charset="0"/>
                <a:cs typeface="Arial" panose="020B0604020202020204" pitchFamily="34" charset="0"/>
              </a:rPr>
              <a:t>nhau</a:t>
            </a:r>
            <a:r>
              <a:rPr lang="en-US" sz="2000" smtClean="0">
                <a:latin typeface="Arial" panose="020B0604020202020204" pitchFamily="34" charset="0"/>
                <a:cs typeface="Arial" panose="020B0604020202020204" pitchFamily="34" charset="0"/>
              </a:rPr>
              <a:t>.</a:t>
            </a:r>
            <a:endParaRPr lang="en-US" sz="2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89935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xEl>
                                              <p:pRg st="0" end="0"/>
                                            </p:txEl>
                                          </p:spTgt>
                                        </p:tgtEl>
                                        <p:attrNameLst>
                                          <p:attrName>style.visibility</p:attrName>
                                        </p:attrNameLst>
                                      </p:cBhvr>
                                      <p:to>
                                        <p:strVal val="visible"/>
                                      </p:to>
                                    </p:set>
                                    <p:animEffect transition="in" filter="fade">
                                      <p:cBhvr>
                                        <p:cTn id="14" dur="1000"/>
                                        <p:tgtEl>
                                          <p:spTgt spid="9">
                                            <p:txEl>
                                              <p:pRg st="0" end="0"/>
                                            </p:txEl>
                                          </p:spTgt>
                                        </p:tgtEl>
                                      </p:cBhvr>
                                    </p:animEffect>
                                    <p:anim calcmode="lin" valueType="num">
                                      <p:cBhvr>
                                        <p:cTn id="15"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9">
                                            <p:txEl>
                                              <p:pRg st="1" end="1"/>
                                            </p:txEl>
                                          </p:spTgt>
                                        </p:tgtEl>
                                        <p:attrNameLst>
                                          <p:attrName>style.visibility</p:attrName>
                                        </p:attrNameLst>
                                      </p:cBhvr>
                                      <p:to>
                                        <p:strVal val="visible"/>
                                      </p:to>
                                    </p:set>
                                    <p:animEffect transition="in" filter="fade">
                                      <p:cBhvr>
                                        <p:cTn id="21" dur="1000"/>
                                        <p:tgtEl>
                                          <p:spTgt spid="9">
                                            <p:txEl>
                                              <p:pRg st="1" end="1"/>
                                            </p:txEl>
                                          </p:spTgt>
                                        </p:tgtEl>
                                      </p:cBhvr>
                                    </p:animEffect>
                                    <p:anim calcmode="lin" valueType="num">
                                      <p:cBhvr>
                                        <p:cTn id="22"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9">
                                            <p:txEl>
                                              <p:pRg st="2" end="2"/>
                                            </p:txEl>
                                          </p:spTgt>
                                        </p:tgtEl>
                                        <p:attrNameLst>
                                          <p:attrName>style.visibility</p:attrName>
                                        </p:attrNameLst>
                                      </p:cBhvr>
                                      <p:to>
                                        <p:strVal val="visible"/>
                                      </p:to>
                                    </p:set>
                                    <p:animEffect transition="in" filter="fade">
                                      <p:cBhvr>
                                        <p:cTn id="28" dur="1000"/>
                                        <p:tgtEl>
                                          <p:spTgt spid="9">
                                            <p:txEl>
                                              <p:pRg st="2" end="2"/>
                                            </p:txEl>
                                          </p:spTgt>
                                        </p:tgtEl>
                                      </p:cBhvr>
                                    </p:animEffect>
                                    <p:anim calcmode="lin" valueType="num">
                                      <p:cBhvr>
                                        <p:cTn id="29"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9">
                                            <p:txEl>
                                              <p:pRg st="3" end="3"/>
                                            </p:txEl>
                                          </p:spTgt>
                                        </p:tgtEl>
                                        <p:attrNameLst>
                                          <p:attrName>style.visibility</p:attrName>
                                        </p:attrNameLst>
                                      </p:cBhvr>
                                      <p:to>
                                        <p:strVal val="visible"/>
                                      </p:to>
                                    </p:set>
                                    <p:animEffect transition="in" filter="fade">
                                      <p:cBhvr>
                                        <p:cTn id="35" dur="1000"/>
                                        <p:tgtEl>
                                          <p:spTgt spid="9">
                                            <p:txEl>
                                              <p:pRg st="3" end="3"/>
                                            </p:txEl>
                                          </p:spTgt>
                                        </p:tgtEl>
                                      </p:cBhvr>
                                    </p:animEffect>
                                    <p:anim calcmode="lin" valueType="num">
                                      <p:cBhvr>
                                        <p:cTn id="36"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9">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639763" y="905292"/>
            <a:ext cx="3061380" cy="442921"/>
          </a:xfrm>
        </p:spPr>
        <p:txBody>
          <a:bodyPr>
            <a:normAutofit/>
          </a:bodyPr>
          <a:lstStyle/>
          <a:p>
            <a:r>
              <a:rPr lang="en-US" sz="2000">
                <a:solidFill>
                  <a:schemeClr val="tx1"/>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7</a:t>
            </a:r>
            <a:r>
              <a:rPr lang="en-US" sz="2000" smtClean="0">
                <a:solidFill>
                  <a:schemeClr val="tx1"/>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	HƯỚNG PHÁT TRIỂN</a:t>
            </a:r>
            <a:endParaRPr lang="en-US" sz="2000">
              <a:solidFill>
                <a:schemeClr val="tx1"/>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5" name="Content Placeholder 2"/>
          <p:cNvSpPr>
            <a:spLocks noGrp="1"/>
          </p:cNvSpPr>
          <p:nvPr>
            <p:ph idx="1"/>
          </p:nvPr>
        </p:nvSpPr>
        <p:spPr>
          <a:xfrm>
            <a:off x="639763" y="1440487"/>
            <a:ext cx="8596668" cy="3131513"/>
          </a:xfrm>
        </p:spPr>
        <p:txBody>
          <a:bodyPr>
            <a:noAutofit/>
          </a:bodyPr>
          <a:lstStyle/>
          <a:p>
            <a:pPr lvl="0" algn="just">
              <a:buClrTx/>
              <a:buFont typeface="Arial" panose="020B0604020202020204" pitchFamily="34" charset="0"/>
              <a:buChar char="•"/>
            </a:pPr>
            <a:r>
              <a:rPr lang="en-US" sz="2000">
                <a:latin typeface="Arial" panose="020B0604020202020204" pitchFamily="34" charset="0"/>
                <a:cs typeface="Arial" panose="020B0604020202020204" pitchFamily="34" charset="0"/>
              </a:rPr>
              <a:t>Tích hợp trí tuệ nhân tạo (AI) như Gemini API để xây dựng hệ thống gợi ý sách thông minh dựa trên sở thích cá nhân và lịch sử tìm kiếm của khách hàng.</a:t>
            </a:r>
          </a:p>
          <a:p>
            <a:pPr lvl="0" algn="just">
              <a:buClrTx/>
              <a:buFont typeface="Arial" panose="020B0604020202020204" pitchFamily="34" charset="0"/>
              <a:buChar char="•"/>
            </a:pPr>
            <a:r>
              <a:rPr lang="en-US" sz="2000">
                <a:latin typeface="Arial" panose="020B0604020202020204" pitchFamily="34" charset="0"/>
                <a:cs typeface="Arial" panose="020B0604020202020204" pitchFamily="34" charset="0"/>
              </a:rPr>
              <a:t>Đa dạng hóa các phương thức thanh toán điện tử bằng cách tích hợp thêm các cổng thanh toán phổ biến tại Việt Nam như VNPay, MoMo, ZaloPay hoặc ShopeePay.</a:t>
            </a:r>
          </a:p>
          <a:p>
            <a:pPr lvl="0" algn="just">
              <a:buClrTx/>
              <a:buFont typeface="Arial" panose="020B0604020202020204" pitchFamily="34" charset="0"/>
              <a:buChar char="•"/>
            </a:pPr>
            <a:r>
              <a:rPr lang="en-US" sz="2000">
                <a:latin typeface="Arial" panose="020B0604020202020204" pitchFamily="34" charset="0"/>
                <a:cs typeface="Arial" panose="020B0604020202020204" pitchFamily="34" charset="0"/>
              </a:rPr>
              <a:t>Ứng dụng công nghệ Socket.io để xây dựng hệ thống thông báo thời gian thực (Real-time) cho người dùng về trạng thái đơn hàng hoặc các đợt Flash Sale sắp diễn ra.</a:t>
            </a:r>
          </a:p>
          <a:p>
            <a:pPr lvl="0" algn="just">
              <a:buClrTx/>
              <a:buFont typeface="Arial" panose="020B0604020202020204" pitchFamily="34" charset="0"/>
              <a:buChar char="•"/>
            </a:pPr>
            <a:r>
              <a:rPr lang="en-US" sz="2000">
                <a:latin typeface="Arial" panose="020B0604020202020204" pitchFamily="34" charset="0"/>
                <a:cs typeface="Arial" panose="020B0604020202020204" pitchFamily="34" charset="0"/>
              </a:rPr>
              <a:t>Nâng cấp hệ thống quản trị (Admin Dashboard) với các biểu đồ thống kê doanh thu, xu hướng mua hàng chuyên sâu để hỗ trợ chủ cửa hàng trong việc đưa ra quyết định kinh doanh.</a:t>
            </a:r>
          </a:p>
        </p:txBody>
      </p:sp>
      <p:pic>
        <p:nvPicPr>
          <p:cNvPr id="6" name="Picture 2" descr="Trường Đại học Trà Vinh - tvu.edu.v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 y="1"/>
            <a:ext cx="819150" cy="81915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739775" y="140325"/>
            <a:ext cx="3162300" cy="338554"/>
          </a:xfrm>
          <a:prstGeom prst="rect">
            <a:avLst/>
          </a:prstGeom>
          <a:noFill/>
        </p:spPr>
        <p:txBody>
          <a:bodyPr wrap="square" rtlCol="0">
            <a:spAutoFit/>
          </a:bodyPr>
          <a:lstStyle/>
          <a:p>
            <a:r>
              <a:rPr lang="en-US" sz="1600" smtClean="0">
                <a:latin typeface="Tahoma" panose="020B0604030504040204" pitchFamily="34" charset="0"/>
                <a:ea typeface="Tahoma" panose="020B0604030504040204" pitchFamily="34" charset="0"/>
                <a:cs typeface="Tahoma" panose="020B0604030504040204" pitchFamily="34" charset="0"/>
              </a:rPr>
              <a:t>TRƯỜNG ĐẠI HỌC TRÀ VINH</a:t>
            </a:r>
            <a:endParaRPr lang="en-US" sz="1600">
              <a:latin typeface="Tahoma" panose="020B0604030504040204" pitchFamily="34" charset="0"/>
              <a:ea typeface="Tahoma" panose="020B0604030504040204" pitchFamily="34" charset="0"/>
              <a:cs typeface="Tahoma" panose="020B0604030504040204" pitchFamily="34" charset="0"/>
            </a:endParaRPr>
          </a:p>
        </p:txBody>
      </p:sp>
      <p:sp>
        <p:nvSpPr>
          <p:cNvPr id="8" name="TextBox 7"/>
          <p:cNvSpPr txBox="1"/>
          <p:nvPr/>
        </p:nvSpPr>
        <p:spPr>
          <a:xfrm>
            <a:off x="739775" y="449878"/>
            <a:ext cx="1860550" cy="276999"/>
          </a:xfrm>
          <a:prstGeom prst="rect">
            <a:avLst/>
          </a:prstGeom>
          <a:noFill/>
        </p:spPr>
        <p:txBody>
          <a:bodyPr wrap="square" rtlCol="0">
            <a:spAutoFit/>
          </a:bodyPr>
          <a:lstStyle/>
          <a:p>
            <a:r>
              <a:rPr lang="en-US" sz="1200" smtClean="0">
                <a:latin typeface="Tahoma" panose="020B0604030504040204" pitchFamily="34" charset="0"/>
                <a:ea typeface="Tahoma" panose="020B0604030504040204" pitchFamily="34" charset="0"/>
                <a:cs typeface="Tahoma" panose="020B0604030504040204" pitchFamily="34" charset="0"/>
              </a:rPr>
              <a:t>TRA VINH UNIVERSITY</a:t>
            </a:r>
            <a:endParaRPr lang="en-US" sz="120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528791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xEl>
                                              <p:pRg st="0" end="0"/>
                                            </p:txEl>
                                          </p:spTgt>
                                        </p:tgtEl>
                                        <p:attrNameLst>
                                          <p:attrName>style.visibility</p:attrName>
                                        </p:attrNameLst>
                                      </p:cBhvr>
                                      <p:to>
                                        <p:strVal val="visible"/>
                                      </p:to>
                                    </p:set>
                                    <p:animEffect transition="in" filter="fade">
                                      <p:cBhvr>
                                        <p:cTn id="14" dur="1000"/>
                                        <p:tgtEl>
                                          <p:spTgt spid="5">
                                            <p:txEl>
                                              <p:pRg st="0" end="0"/>
                                            </p:txEl>
                                          </p:spTgt>
                                        </p:tgtEl>
                                      </p:cBhvr>
                                    </p:animEffect>
                                    <p:anim calcmode="lin" valueType="num">
                                      <p:cBhvr>
                                        <p:cTn id="15"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5">
                                            <p:txEl>
                                              <p:pRg st="1" end="1"/>
                                            </p:txEl>
                                          </p:spTgt>
                                        </p:tgtEl>
                                        <p:attrNameLst>
                                          <p:attrName>style.visibility</p:attrName>
                                        </p:attrNameLst>
                                      </p:cBhvr>
                                      <p:to>
                                        <p:strVal val="visible"/>
                                      </p:to>
                                    </p:set>
                                    <p:animEffect transition="in" filter="fade">
                                      <p:cBhvr>
                                        <p:cTn id="21" dur="1000"/>
                                        <p:tgtEl>
                                          <p:spTgt spid="5">
                                            <p:txEl>
                                              <p:pRg st="1" end="1"/>
                                            </p:txEl>
                                          </p:spTgt>
                                        </p:tgtEl>
                                      </p:cBhvr>
                                    </p:animEffect>
                                    <p:anim calcmode="lin" valueType="num">
                                      <p:cBhvr>
                                        <p:cTn id="22"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5">
                                            <p:txEl>
                                              <p:pRg st="2" end="2"/>
                                            </p:txEl>
                                          </p:spTgt>
                                        </p:tgtEl>
                                        <p:attrNameLst>
                                          <p:attrName>style.visibility</p:attrName>
                                        </p:attrNameLst>
                                      </p:cBhvr>
                                      <p:to>
                                        <p:strVal val="visible"/>
                                      </p:to>
                                    </p:set>
                                    <p:animEffect transition="in" filter="fade">
                                      <p:cBhvr>
                                        <p:cTn id="28" dur="1000"/>
                                        <p:tgtEl>
                                          <p:spTgt spid="5">
                                            <p:txEl>
                                              <p:pRg st="2" end="2"/>
                                            </p:txEl>
                                          </p:spTgt>
                                        </p:tgtEl>
                                      </p:cBhvr>
                                    </p:animEffect>
                                    <p:anim calcmode="lin" valueType="num">
                                      <p:cBhvr>
                                        <p:cTn id="29"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5">
                                            <p:txEl>
                                              <p:pRg st="3" end="3"/>
                                            </p:txEl>
                                          </p:spTgt>
                                        </p:tgtEl>
                                        <p:attrNameLst>
                                          <p:attrName>style.visibility</p:attrName>
                                        </p:attrNameLst>
                                      </p:cBhvr>
                                      <p:to>
                                        <p:strVal val="visible"/>
                                      </p:to>
                                    </p:set>
                                    <p:animEffect transition="in" filter="fade">
                                      <p:cBhvr>
                                        <p:cTn id="35" dur="1000"/>
                                        <p:tgtEl>
                                          <p:spTgt spid="5">
                                            <p:txEl>
                                              <p:pRg st="3" end="3"/>
                                            </p:txEl>
                                          </p:spTgt>
                                        </p:tgtEl>
                                      </p:cBhvr>
                                    </p:animEffect>
                                    <p:anim calcmode="lin" valueType="num">
                                      <p:cBhvr>
                                        <p:cTn id="36"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2795451"/>
            <a:ext cx="10467703" cy="1631216"/>
          </a:xfrm>
          <a:prstGeom prst="rect">
            <a:avLst/>
          </a:prstGeom>
          <a:noFill/>
        </p:spPr>
        <p:txBody>
          <a:bodyPr wrap="square" rtlCol="0">
            <a:spAutoFit/>
          </a:bodyPr>
          <a:lstStyle/>
          <a:p>
            <a:pPr algn="ctr"/>
            <a:r>
              <a:rPr lang="en-US" sz="5000" smtClean="0">
                <a:latin typeface="Tahoma" panose="020B0604030504040204" pitchFamily="34" charset="0"/>
                <a:ea typeface="Tahoma" panose="020B0604030504040204" pitchFamily="34" charset="0"/>
                <a:cs typeface="Tahoma" panose="020B0604030504040204" pitchFamily="34" charset="0"/>
              </a:rPr>
              <a:t>CẢM ƠN QUÝ THẦY CÔ VÀ CÁC BẠN </a:t>
            </a:r>
          </a:p>
          <a:p>
            <a:pPr algn="ctr"/>
            <a:r>
              <a:rPr lang="en-US" sz="5000" smtClean="0">
                <a:latin typeface="Tahoma" panose="020B0604030504040204" pitchFamily="34" charset="0"/>
                <a:ea typeface="Tahoma" panose="020B0604030504040204" pitchFamily="34" charset="0"/>
                <a:cs typeface="Tahoma" panose="020B0604030504040204" pitchFamily="34" charset="0"/>
              </a:rPr>
              <a:t>ĐÃ LẮNG NGHE!</a:t>
            </a:r>
            <a:endParaRPr lang="en-US" sz="500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534584385"/>
      </p:ext>
    </p:extLst>
  </p:cSld>
  <p:clrMapOvr>
    <a:masterClrMapping/>
  </p:clrMapOvr>
  <p:timing>
    <p:tnLst>
      <p:par>
        <p:cTn id="1" dur="indefinite" restart="never" nodeType="tmRoot"/>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423</TotalTime>
  <Words>752</Words>
  <Application>Microsoft Office PowerPoint</Application>
  <PresentationFormat>Widescreen</PresentationFormat>
  <Paragraphs>74</Paragraphs>
  <Slides>11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Tahoma</vt:lpstr>
      <vt:lpstr>Trebuchet MS</vt:lpstr>
      <vt:lpstr>Wingdings 3</vt:lpstr>
      <vt:lpstr>Facet</vt:lpstr>
      <vt:lpstr>XÂY DỰNG WEBSITE BÁN SÁCH BẰNG NODEJS</vt:lpstr>
      <vt:lpstr>NỘI DUNG ĐỒ ÁN</vt:lpstr>
      <vt:lpstr>1. LÍ DO CHỌN ĐỀ TÀI, MỤC TIÊU NGHIÊN CỨU</vt:lpstr>
      <vt:lpstr>2.  CƠ SỞ LÝ THUYẾT</vt:lpstr>
      <vt:lpstr>3. MÔ TẢ ĐỀ TÀI</vt:lpstr>
      <vt:lpstr>4. MÔ HÌNH DỮ LIỆU</vt:lpstr>
      <vt:lpstr>5. MÔ HÌNH XỬ LÝ</vt:lpstr>
      <vt:lpstr>6. KẾT QUẢ ĐẠT ĐƯỢC</vt:lpstr>
      <vt:lpstr>6. KẾT QUẢ ĐẠT ĐƯỢC</vt:lpstr>
      <vt:lpstr>7. HƯỚNG PHÁT TRIỂN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THIẾT KẾ FRONT-END CHO WEBSITE  GIỚI THIỆU VÀ CHIA SẺ TÀI LIỆU HỌC TẬP</dc:title>
  <dc:creator>Microsoft account</dc:creator>
  <cp:lastModifiedBy>Microsoft account</cp:lastModifiedBy>
  <cp:revision>74</cp:revision>
  <dcterms:created xsi:type="dcterms:W3CDTF">2025-01-01T07:47:49Z</dcterms:created>
  <dcterms:modified xsi:type="dcterms:W3CDTF">2025-12-29T04:22:54Z</dcterms:modified>
</cp:coreProperties>
</file>